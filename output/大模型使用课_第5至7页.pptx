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a2602fd264604" /><Relationship Type="http://schemas.openxmlformats.org/officeDocument/2006/relationships/extended-properties" Target="/docProps/app.xml" Id="R1554d044443f4ee2" /><Relationship Type="http://schemas.openxmlformats.org/officeDocument/2006/relationships/officeDocument" Target="/ppt/presentation.xml" Id="Ra3ca5911459c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8ca5d1720c47dc"/>
  </p:sldMasterIdLst>
  <p:notesMasterIdLst>
    <p:notesMasterId xmlns:r="http://schemas.openxmlformats.org/officeDocument/2006/relationships" r:id="Rd10221e8e01a4531"/>
  </p:notesMasterIdLst>
  <p:sldIdLst>
    <p:sldId xmlns:r="http://schemas.openxmlformats.org/officeDocument/2006/relationships" id="256" r:id="R5098972f311945fc"/>
    <p:sldId xmlns:r="http://schemas.openxmlformats.org/officeDocument/2006/relationships" id="257" r:id="R2d5ff802eb454cd8"/>
    <p:sldId xmlns:r="http://schemas.openxmlformats.org/officeDocument/2006/relationships" id="258" r:id="Rc0071994206244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50f7ffeba4ed2" /><Relationship Type="http://schemas.openxmlformats.org/officeDocument/2006/relationships/slideMaster" Target="/ppt/slideMasters/slideMaster1.xml" Id="R7b8ca5d1720c47dc" /><Relationship Type="http://schemas.openxmlformats.org/officeDocument/2006/relationships/notesMaster" Target="/ppt/notesMasters/notesMaster1.xml" Id="Rd10221e8e01a4531" /><Relationship Type="http://schemas.openxmlformats.org/officeDocument/2006/relationships/presProps" Target="/ppt/presProps.xml" Id="R479fd734faa54988" /><Relationship Type="http://schemas.openxmlformats.org/officeDocument/2006/relationships/tableStyles" Target="/ppt/tableStyles.xml" Id="R3aeb88a9f3094887" /><Relationship Type="http://schemas.openxmlformats.org/officeDocument/2006/relationships/slide" Target="/ppt/slides/slide1.xml" Id="R5098972f311945fc" /><Relationship Type="http://schemas.openxmlformats.org/officeDocument/2006/relationships/slide" Target="/ppt/slides/slide2.xml" Id="R2d5ff802eb454cd8" /><Relationship Type="http://schemas.openxmlformats.org/officeDocument/2006/relationships/slide" Target="/ppt/slides/slide3.xml" Id="Rc0071994206244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7c8dc09c146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80d7fa8c8f47fc" /><Relationship Type="http://schemas.openxmlformats.org/officeDocument/2006/relationships/notesMaster" Target="/ppt/notesMasters/notesMaster1.xml" Id="R42be0b271cbb4f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770f053da94006" /><Relationship Type="http://schemas.openxmlformats.org/officeDocument/2006/relationships/notesMaster" Target="/ppt/notesMasters/notesMaster1.xml" Id="Re29e4fde043b4b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2eeedf0efb438d" /><Relationship Type="http://schemas.openxmlformats.org/officeDocument/2006/relationships/notesMaster" Target="/ppt/notesMasters/notesMaster1.xml" Id="R4c1023d6e7ef40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这一页先介绍三个后面会经常用到的名词：LLM、harness 和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我们平时讨论的 AI 模型，很多都属于 LLM，也就是大语言模型。比如 DeepSeek 最近的 V4.1-Flash-1017，以及 OpenAI 的 GPT-6 Astra。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从文本生成的过程来看，可以先把 LLM 理解成一个根据上下文预测下一个 token 的模型。token 可以是一个字、一个词的一部分，也可以是标点或代码符号。模型根据已有内容，逐步生成后续内容，最后形成我们看到的回答。经过大量训练，这个过程能够完成解释知识、分析问题、生成代码等复杂任务。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不过，要让模型参与实际开发，还需要给它提供代码文件、终端、编译器等工具，并且管理它使用这些工具的过程。这里就涉及第二个概念：harness。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Harness 是围绕模型运行的一套软件，负责组织输入信息、连接工具、执行模型提出的操作，并把执行结果交回模型。它还会管理对话记录、工作进度，以及哪些操作需要我们确认。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举个例子，我们让 AI 修复一个 C 程序的编译错误。模型首先需要查看代码，于是提出读取文件的请求。harness 调用文件工具，把代码交给模型。模型分析后提出修改，harness 再通过编辑工具修改文件，然后调用终端运行编译命令。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如果编译器继续报错，harness 就把报错信息交回模型。模型根据新的信息继续分析、修改和验证。这样就形成了一个循环：查看信息、决定下一步、执行操作、检查结果。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OpenCode、Claude Code、Codex 这类开发工具，都包含了这样的 harness。我们使用时可以关注两个问题：连接的是哪个模型，以及这套工具给模型提供了哪些能力。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最后是 agent，通常翻译成智能体。在今天的代码开发场景里，当模型结合这些工具，围绕一个目标连续执行任务，并根据结果调整下一步操作时，我们就可以把这套工作的系统称为 coding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比如，你给它一个目标：“找到编译失败的原因，完成修改，再验证能否通过编译。”它会在允许的范围内连续完成多个步骤。我们则负责说明目标、提供必要信息、确认重要操作，并检查最终结果。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https://api-docs.deepseek.com/quick_start/pricing/</a:t>
            </a:r>
          </a:p>
          <a:p xmlns:a="http://schemas.openxmlformats.org/drawingml/2006/main">
            <a:r>
              <a:t>https://developers.openai.com/api/docs/models/gpt-6-astra</a:t>
            </a:r>
          </a:p>
          <a:p xmlns:a="http://schemas.openxmlformats.org/drawingml/2006/main">
            <a:r>
              <a:t>https://developers.openai.com/blog/codex-as-a-platform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https://lucide.dev/icons/brain-circuit</a:t>
            </a:r>
          </a:p>
          <a:p xmlns:a="http://schemas.openxmlformats.org/drawingml/2006/main">
            <a:r>
              <a:t>https://lucide.dev/icons/workflow</a:t>
            </a:r>
          </a:p>
          <a:p xmlns:a="http://schemas.openxmlformats.org/drawingml/2006/main">
            <a:r>
              <a:t>https://lucide.dev/icons/bot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前面介绍了模型和 harness，接下来看看，我们平时通过哪些工具使用它们。代码开发中常见的使用方式包括命令行工具、桌面应用，以及编辑器里的 AI 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 CLI，也就是命令行界面。这类工具运行在终端里，比如 Claude Code、Codex CLI 和 OpenCode。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时，我们通常先进入项目目录，再用一条命令启动工具。启动后，就可以用自然语言提出任务，比如“介绍一下这个项目的目录”“帮我解释这个函数”，或者“查看编译报错并尝试修复”。工具可以在允许的范围内读取文件、修改代码和执行命令，我们也能在终端里查看它的操作与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第二类是桌面应用，也就是带有图形界面的软件。比如 OpenCode 的桌面端，以及 Claude Code 的桌面使用方式。这类界面通常会把对话、项目文件和代码修改放在不同区域，方便我们通过点击来查看和操作。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还有一类工具会直接集成在代码编辑器里。我们阅读某段代码时，可以选中它，让 AI 解释；修改代码时，也可以在编辑器中查看建议和接受修改。这样，写代码和使用 AI 就能在同一个界面里进行。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这里要联系上一页的概念：模型负责生成回答和操作请求，harness 管理任务执行，CLI 和图形界面提供人与工具交互的入口。同一个产品可以同时提供多种界面，具体支持哪些模型和功能，要看产品的配置。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另外，把 CLI 或桌面应用装到电脑上以后，模型计算仍可能通过网络在云端完成。安装开发工具、配置模型服务，以及在本地运行模型，是需要分别了解的步骤。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对于我们接下来的培训，可以先选定一种工具，学会打开项目、提出任务、查看修改和检查运行结果。熟悉这些操作后，再根据自己的习惯选择终端、桌面应用或编辑器。下一页会介绍怎样通过 skill 和 AGENTS.md，向工具补充任务方法与项目要求。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https://developers.openai.com/codex/cli</a:t>
            </a:r>
          </a:p>
          <a:p xmlns:a="http://schemas.openxmlformats.org/drawingml/2006/main">
            <a:r>
              <a:t>https://learn.chatgpt.com/docs/app</a:t>
            </a:r>
          </a:p>
          <a:p xmlns:a="http://schemas.openxmlformats.org/drawingml/2006/main">
            <a:r>
              <a:t>https://code.claude.com/docs/en/overview</a:t>
            </a:r>
          </a:p>
          <a:p xmlns:a="http://schemas.openxmlformats.org/drawingml/2006/main">
            <a:r>
              <a:t>https://opencode.ai/docs/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https://lucide.dev/icons/square-terminal</a:t>
            </a:r>
          </a:p>
          <a:p xmlns:a="http://schemas.openxmlformats.org/drawingml/2006/main">
            <a:r>
              <a:t>https://lucide.dev/icons/monitor</a:t>
            </a:r>
          </a:p>
          <a:p xmlns:a="http://schemas.openxmlformats.org/drawingml/2006/main">
            <a:r>
              <a:t>https://lucide.dev/icons/code-xml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上一页介绍了 CLI、桌面应用和编辑器里的 AI 功能。这一页再认识两个使用 AI 开发工具时经常会遇到的概念：skill 和 AGENTS.md。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 skill，通常翻译成技能。我们可以把它理解成一份可复用的任务说明，里面写清楚某类任务应该怎样完成。根据需要，还可以附带参考资料、模板和脚本。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比如，我们希望 AI 帮忙阅读代码时，先介绍整体功能，再解释关键函数，最后给出一个具体例子。就可以把这些要求整理成 skill，以后遇到类似任务时重复使用。支持 skill 的工具通常会根据任务选择并加载相应说明，我们也可以主动指定。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接下来是 AGENTS.md。它通常放在项目目录中，用来告诉 AI：这个项目怎样组织，应该遵守哪些约定，以及怎样开展工作。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比如，一个战队项目可以在里面写明：使用什么语言和编译工具，源码放在哪些目录，怎样编译和测试，注释采用什么风格，以及修改代码时需要注意哪些要求。支持 AGENTS.md 的开发工具会按照自己的读取规则，把这些内容提供给模型。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在实际使用中，两者可以配合。AGENTS.md 提供当前项目的背景和约定，skill 提供某类任务的具体做法。比如处理编译错误时，AI 可以先从项目说明中了解编译命令，再按照相关 skill 的步骤检查日志、修改代码和验证结果。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刚开始使用时，可以先写一份简短的 AGENTS.md，说明项目用途、编译方法和基本要求。随着开发过程中出现重复需求，再逐步整理成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https://agentskills.io/home</a:t>
            </a:r>
          </a:p>
          <a:p xmlns:a="http://schemas.openxmlformats.org/drawingml/2006/main">
            <a:r>
              <a:t>https://opencode.ai/docs/skills/</a:t>
            </a:r>
          </a:p>
          <a:p xmlns:a="http://schemas.openxmlformats.org/drawingml/2006/main">
            <a:r>
              <a:t>https://opencode.ai/docs/rules/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图标来源</a:t>
            </a:r>
          </a:p>
          <a:p xmlns:a="http://schemas.openxmlformats.org/drawingml/2006/main">
            <a:r>
              <a:t>https://lucide.dev/icons/book-open-check</a:t>
            </a:r>
          </a:p>
          <a:p xmlns:a="http://schemas.openxmlformats.org/drawingml/2006/main">
            <a:r>
              <a:t>https://lucide.dev/icons/file-cog</a:t>
            </a:r>
          </a:p>
          <a:p xmlns:a="http://schemas.openxmlformats.org/drawingml/2006/main">
            <a:r>
              <a:t>Lucide icons, ISC license: https://lucide.dev/license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8b0fcc3c24f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8d8a2030e41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f0bd56ce340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ffb694aa04f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a7d0de4b7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a46af733ac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E00064-B1EE-4FB6-84B0-5CC157FD4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754FE2-A9AC-45F8-868C-8E9AD040E9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5738A7-2939-4BB9-A291-E35172823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3F68F7-5DEF-4638-90EE-65C69E50D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794C66-0C68-4677-B9CA-9F3278FAAC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5FD934-B7B0-455D-85CF-63AFAC502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8BB27B-E1A1-4E27-A246-EE793255A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172667-6114-4AF5-AF2D-765E93D0B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77FAE7-DD62-44F2-AEED-CF3C99FE2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DE8783-865E-4CAA-BB5B-F32FD1F80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e9e468b9c45d0" /><Relationship Type="http://schemas.openxmlformats.org/officeDocument/2006/relationships/slideLayout" Target="/ppt/slideLayouts/slideLayout1.xml" Id="Ra587530d4d22477e" /><Relationship Type="http://schemas.openxmlformats.org/officeDocument/2006/relationships/slideLayout" Target="/ppt/slideLayouts/slideLayout2.xml" Id="R2293ca55311d4969" /><Relationship Type="http://schemas.openxmlformats.org/officeDocument/2006/relationships/slideLayout" Target="/ppt/slideLayouts/slideLayout3.xml" Id="Reea209748a90404a" /><Relationship Type="http://schemas.openxmlformats.org/officeDocument/2006/relationships/slideLayout" Target="/ppt/slideLayouts/slideLayout4.xml" Id="R420dd9eceb3e4ac5" /><Relationship Type="http://schemas.openxmlformats.org/officeDocument/2006/relationships/slideLayout" Target="/ppt/slideLayouts/slideLayout5.xml" Id="R667226f6f5cd478f" /><Relationship Type="http://schemas.openxmlformats.org/officeDocument/2006/relationships/slideLayout" Target="/ppt/slideLayouts/slideLayout6.xml" Id="R416b2d562a71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7530d4d22477e"/>
    <p:sldLayoutId xmlns:r="http://schemas.openxmlformats.org/officeDocument/2006/relationships" id="2147483650" r:id="R2293ca55311d4969"/>
    <p:sldLayoutId xmlns:r="http://schemas.openxmlformats.org/officeDocument/2006/relationships" id="2147483651" r:id="Reea209748a90404a"/>
    <p:sldLayoutId xmlns:r="http://schemas.openxmlformats.org/officeDocument/2006/relationships" id="2147483652" r:id="R420dd9eceb3e4ac5"/>
    <p:sldLayoutId xmlns:r="http://schemas.openxmlformats.org/officeDocument/2006/relationships" id="2147483653" r:id="R667226f6f5cd478f"/>
    <p:sldLayoutId xmlns:r="http://schemas.openxmlformats.org/officeDocument/2006/relationships" id="2147483654" r:id="R416b2d562a71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1c22b24a845fc" /><Relationship Type="http://schemas.openxmlformats.org/officeDocument/2006/relationships/image" Target="/ppt/media/image.png" Id="Rae39f4cca2864245" /><Relationship Type="http://schemas.openxmlformats.org/officeDocument/2006/relationships/image" Target="/ppt/media/image.svg" Id="R5a9c6b7b66af450d" /><Relationship Type="http://schemas.openxmlformats.org/officeDocument/2006/relationships/image" Target="/ppt/media/image2.png" Id="R922214a4d38244f3" /><Relationship Type="http://schemas.openxmlformats.org/officeDocument/2006/relationships/image" Target="/ppt/media/image2.svg" Id="R8d381c5e7c0c4e02" /><Relationship Type="http://schemas.openxmlformats.org/officeDocument/2006/relationships/image" Target="/ppt/media/image3.png" Id="R879e86d8eb764e0b" /><Relationship Type="http://schemas.openxmlformats.org/officeDocument/2006/relationships/image" Target="/ppt/media/image3.svg" Id="R40584c9e1a69495c" /><Relationship Type="http://schemas.openxmlformats.org/officeDocument/2006/relationships/notesSlide" Target="/ppt/notesSlides/notesSlide1.xml" Id="Rbc4cd19ce70448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de6133e534c74" /><Relationship Type="http://schemas.openxmlformats.org/officeDocument/2006/relationships/image" Target="/ppt/media/image4.png" Id="R7b67151b992a4c44" /><Relationship Type="http://schemas.openxmlformats.org/officeDocument/2006/relationships/image" Target="/ppt/media/image4.svg" Id="R12902c0aabeb42ec" /><Relationship Type="http://schemas.openxmlformats.org/officeDocument/2006/relationships/image" Target="/ppt/media/image5.png" Id="R6bbb861c6dfd4199" /><Relationship Type="http://schemas.openxmlformats.org/officeDocument/2006/relationships/image" Target="/ppt/media/image5.svg" Id="R60d4945cfdde403d" /><Relationship Type="http://schemas.openxmlformats.org/officeDocument/2006/relationships/image" Target="/ppt/media/image6.png" Id="Rc20a48df04e74878" /><Relationship Type="http://schemas.openxmlformats.org/officeDocument/2006/relationships/image" Target="/ppt/media/image6.svg" Id="Rfa8e51a8b0724ddb" /><Relationship Type="http://schemas.openxmlformats.org/officeDocument/2006/relationships/notesSlide" Target="/ppt/notesSlides/notesSlide2.xml" Id="Rec2e5d52a3d548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d905298e649bf" /><Relationship Type="http://schemas.openxmlformats.org/officeDocument/2006/relationships/image" Target="/ppt/media/image7.png" Id="R150d47e7320a47f0" /><Relationship Type="http://schemas.openxmlformats.org/officeDocument/2006/relationships/image" Target="/ppt/media/image7.svg" Id="R57b2c0f4b4364eb4" /><Relationship Type="http://schemas.openxmlformats.org/officeDocument/2006/relationships/image" Target="/ppt/media/image8.png" Id="R7298069d7bb642f7" /><Relationship Type="http://schemas.openxmlformats.org/officeDocument/2006/relationships/image" Target="/ppt/media/image8.svg" Id="Rb545dab116044758" /><Relationship Type="http://schemas.openxmlformats.org/officeDocument/2006/relationships/notesSlide" Target="/ppt/notesSlides/notesSlide3.xml" Id="R36f4ff8f3cd048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582E2CF1-70F6-47CE-B516-36F4F775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LLM、Harness 与 Agent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68A4C2-D349-4042-8A84-96031DDC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BBAD5-CFA1-45F9-A14E-EC23DB0C7F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9f4cca2864245">
            <a:extLst>
              <a:ext uri="{96DAC541-7B7A-43D3-8B79-37D633B846F1}">
                <asvg:svgBlip xmlns:asvg="http://schemas.microsoft.com/office/drawing/2016/SVG/main" r:embed="R5a9c6b7b66af45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7850" y="1952625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188F8-881B-4F65-B558-4EBEAF33B4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214a4d38244f3">
            <a:extLst>
              <a:ext uri="{96DAC541-7B7A-43D3-8B79-37D633B846F1}">
                <asvg:svgBlip xmlns:asvg="http://schemas.microsoft.com/office/drawing/2016/SVG/main" r:embed="R8d381c5e7c0c4e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1952625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072DE-9910-4572-8E7D-A1CD96247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e86d8eb764e0b">
            <a:extLst>
              <a:ext uri="{96DAC541-7B7A-43D3-8B79-37D633B846F1}">
                <asvg:svgBlip xmlns:asvg="http://schemas.microsoft.com/office/drawing/2016/SVG/main" r:embed="R40584c9e1a6949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1952625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6" name="concept-0">
            <a:extLst xmlns:a="http://schemas.openxmlformats.org/drawingml/2006/main">
              <a:ext uri="{FF2B5EF4-FFF2-40B4-BE49-F238E27FC236}">
                <a16:creationId xmlns:a16="http://schemas.microsoft.com/office/drawing/2014/main" id="{33C9BA56-CAA8-4BEA-947B-9B64587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LLM</a:t>
            </a:r>
          </a:p>
        </p:txBody>
      </p:sp>
      <p:sp>
        <p:nvSpPr>
          <p:cNvPr id="7" name="meaning-0">
            <a:extLst xmlns:a="http://schemas.openxmlformats.org/drawingml/2006/main">
              <a:ext uri="{FF2B5EF4-FFF2-40B4-BE49-F238E27FC236}">
                <a16:creationId xmlns:a16="http://schemas.microsoft.com/office/drawing/2014/main" id="{4BB53735-0FF2-455E-975D-A0D1CC6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大语言模型</a:t>
            </a:r>
          </a:p>
        </p:txBody>
      </p:sp>
      <p:sp>
        <p:nvSpPr>
          <p:cNvPr id="8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4D50D4D7-0CBF-48D5-AC36-2E576E73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根据上下文生成内容</a:t>
            </a:r>
          </a:p>
        </p:txBody>
      </p:sp>
      <p:sp>
        <p:nvSpPr>
          <p:cNvPr id="9" name="example-0">
            <a:extLst xmlns:a="http://schemas.openxmlformats.org/drawingml/2006/main">
              <a:ext uri="{FF2B5EF4-FFF2-40B4-BE49-F238E27FC236}">
                <a16:creationId xmlns:a16="http://schemas.microsoft.com/office/drawing/2014/main" id="{83EE3A06-7B22-4674-A17A-604F4B5D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DeepSeek、GPT</a:t>
            </a:r>
          </a:p>
        </p:txBody>
      </p:sp>
      <p:sp>
        <p:nvSpPr>
          <p:cNvPr id="10" name="concept-1">
            <a:extLst xmlns:a="http://schemas.openxmlformats.org/drawingml/2006/main">
              <a:ext uri="{FF2B5EF4-FFF2-40B4-BE49-F238E27FC236}">
                <a16:creationId xmlns:a16="http://schemas.microsoft.com/office/drawing/2014/main" id="{53AB283C-5900-4AA1-9CE8-3E645E19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1" name="meaning-1">
            <a:extLst xmlns:a="http://schemas.openxmlformats.org/drawingml/2006/main">
              <a:ext uri="{FF2B5EF4-FFF2-40B4-BE49-F238E27FC236}">
                <a16:creationId xmlns:a16="http://schemas.microsoft.com/office/drawing/2014/main" id="{715CF94E-EB78-4D1F-A758-689D0AA4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运行与执行管理</a:t>
            </a:r>
          </a:p>
        </p:txBody>
      </p:sp>
      <p:sp>
        <p:nvSpPr>
          <p:cNvPr id="12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F24317B2-AE24-469D-890E-1E09CC40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组织信息，连接工具</a:t>
            </a:r>
          </a:p>
        </p:txBody>
      </p:sp>
      <p:sp>
        <p:nvSpPr>
          <p:cNvPr id="13" name="example-1">
            <a:extLst xmlns:a="http://schemas.openxmlformats.org/drawingml/2006/main">
              <a:ext uri="{FF2B5EF4-FFF2-40B4-BE49-F238E27FC236}">
                <a16:creationId xmlns:a16="http://schemas.microsoft.com/office/drawing/2014/main" id="{9C75E7A4-A144-4AB6-95C6-730A7283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文件、终端、权限</a:t>
            </a:r>
          </a:p>
        </p:txBody>
      </p:sp>
      <p:sp>
        <p:nvSpPr>
          <p:cNvPr id="14" name="concept-2">
            <a:extLst xmlns:a="http://schemas.openxmlformats.org/drawingml/2006/main">
              <a:ext uri="{FF2B5EF4-FFF2-40B4-BE49-F238E27FC236}">
                <a16:creationId xmlns:a16="http://schemas.microsoft.com/office/drawing/2014/main" id="{755B6CA5-593E-4D8C-A009-5C5288B4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42D96604-3761-4C49-8EB2-DD2E0A01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围绕目标执行任务</a:t>
            </a:r>
          </a:p>
        </p:txBody>
      </p:sp>
      <p:sp>
        <p:nvSpPr>
          <p:cNvPr id="16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B8115044-AD7C-41AE-B822-446D834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根据结果继续行动</a:t>
            </a:r>
          </a:p>
        </p:txBody>
      </p:sp>
      <p:sp>
        <p:nvSpPr>
          <p:cNvPr id="17" name="example-2">
            <a:extLst xmlns:a="http://schemas.openxmlformats.org/drawingml/2006/main">
              <a:ext uri="{FF2B5EF4-FFF2-40B4-BE49-F238E27FC236}">
                <a16:creationId xmlns:a16="http://schemas.microsoft.com/office/drawing/2014/main" id="{DDBD39A3-CFA8-4A6F-91D4-75C1FFD8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339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分析、操作、验证</a:t>
            </a:r>
          </a:p>
        </p:txBody>
      </p:sp>
    </p:spTree>
    <p:extLst>
      <p:ext uri="{BB962C8B-B14F-4D97-AF65-F5344CB8AC3E}">
        <p14:creationId xmlns:p14="http://schemas.microsoft.com/office/powerpoint/2010/main" val="593093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8318203-BE2B-46FE-BABF-65CCDBC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AI 开发工具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74C364-6770-4F3C-B6E8-A81328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7BABE-3F92-4381-8E27-E8D7A8682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151b992a4c44">
            <a:extLst>
              <a:ext uri="{96DAC541-7B7A-43D3-8B79-37D633B846F1}">
                <asvg:svgBlip xmlns:asvg="http://schemas.microsoft.com/office/drawing/2016/SVG/main" r:embed="R12902c0aabeb42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7850" y="184785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CC5DE-B554-4F4B-8FE7-96381F63D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b861c6dfd4199">
            <a:extLst>
              <a:ext uri="{96DAC541-7B7A-43D3-8B79-37D633B846F1}">
                <asvg:svgBlip xmlns:asvg="http://schemas.microsoft.com/office/drawing/2016/SVG/main" r:embed="R60d4945cfdde40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67350" y="1847850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DAB60-0E95-4FB7-88E1-AE4B899EF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48df04e74878">
            <a:extLst>
              <a:ext uri="{96DAC541-7B7A-43D3-8B79-37D633B846F1}">
                <asvg:svgBlip xmlns:asvg="http://schemas.microsoft.com/office/drawing/2016/SVG/main" r:embed="Rfa8e51a8b0724d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86850" y="18478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6" name="tool-0">
            <a:extLst xmlns:a="http://schemas.openxmlformats.org/drawingml/2006/main">
              <a:ext uri="{FF2B5EF4-FFF2-40B4-BE49-F238E27FC236}">
                <a16:creationId xmlns:a16="http://schemas.microsoft.com/office/drawing/2014/main" id="{777AC7AA-AFEE-4DB1-974A-91CEE704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CLI 命令行</a:t>
            </a:r>
          </a:p>
        </p:txBody>
      </p:sp>
      <p:sp>
        <p:nvSpPr>
          <p:cNvPr id="7" name="tool-description-0">
            <a:extLst xmlns:a="http://schemas.openxmlformats.org/drawingml/2006/main">
              <a:ext uri="{FF2B5EF4-FFF2-40B4-BE49-F238E27FC236}">
                <a16:creationId xmlns:a16="http://schemas.microsoft.com/office/drawing/2014/main" id="{34B8B22E-8313-423F-9255-2FBDFE8B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在终端中使用</a:t>
            </a:r>
          </a:p>
        </p:txBody>
      </p:sp>
      <p:sp>
        <p:nvSpPr>
          <p:cNvPr id="8" name="tool-examples-0">
            <a:extLst xmlns:a="http://schemas.openxmlformats.org/drawingml/2006/main">
              <a:ext uri="{FF2B5EF4-FFF2-40B4-BE49-F238E27FC236}">
                <a16:creationId xmlns:a16="http://schemas.microsoft.com/office/drawing/2014/main" id="{2C71C1A2-F6F9-4293-952C-34D6190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Codex CLI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9" name="tool-1">
            <a:extLst xmlns:a="http://schemas.openxmlformats.org/drawingml/2006/main">
              <a:ext uri="{FF2B5EF4-FFF2-40B4-BE49-F238E27FC236}">
                <a16:creationId xmlns:a16="http://schemas.microsoft.com/office/drawing/2014/main" id="{6989FFBB-EA7F-47E5-ACE7-DD0DE4DE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桌面应用</a:t>
            </a:r>
          </a:p>
        </p:txBody>
      </p:sp>
      <p:sp>
        <p:nvSpPr>
          <p:cNvPr id="10" name="tool-description-1">
            <a:extLst xmlns:a="http://schemas.openxmlformats.org/drawingml/2006/main">
              <a:ext uri="{FF2B5EF4-FFF2-40B4-BE49-F238E27FC236}">
                <a16:creationId xmlns:a16="http://schemas.microsoft.com/office/drawing/2014/main" id="{7EE64B68-1FFA-4280-B93B-4932569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图形界面操作</a:t>
            </a:r>
          </a:p>
        </p:txBody>
      </p:sp>
      <p:sp>
        <p:nvSpPr>
          <p:cNvPr id="11" name="tool-examples-1">
            <a:extLst xmlns:a="http://schemas.openxmlformats.org/drawingml/2006/main">
              <a:ext uri="{FF2B5EF4-FFF2-40B4-BE49-F238E27FC236}">
                <a16:creationId xmlns:a16="http://schemas.microsoft.com/office/drawing/2014/main" id="{0A9DEA34-C5F4-4A0E-BD94-8AE70AF0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ChatGPT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2" name="tool-2">
            <a:extLst xmlns:a="http://schemas.openxmlformats.org/drawingml/2006/main">
              <a:ext uri="{FF2B5EF4-FFF2-40B4-BE49-F238E27FC236}">
                <a16:creationId xmlns:a16="http://schemas.microsoft.com/office/drawing/2014/main" id="{D5953629-9EFA-4630-B28D-BA937AA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编辑器集成</a:t>
            </a:r>
          </a:p>
        </p:txBody>
      </p:sp>
      <p:sp>
        <p:nvSpPr>
          <p:cNvPr id="13" name="tool-description-2">
            <a:extLst xmlns:a="http://schemas.openxmlformats.org/drawingml/2006/main">
              <a:ext uri="{FF2B5EF4-FFF2-40B4-BE49-F238E27FC236}">
                <a16:creationId xmlns:a16="http://schemas.microsoft.com/office/drawing/2014/main" id="{0A8B2A4E-AFFA-4C93-A93D-D9FD55BC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在代码旁边使用</a:t>
            </a:r>
          </a:p>
        </p:txBody>
      </p:sp>
      <p:sp>
        <p:nvSpPr>
          <p:cNvPr id="14" name="tool-examples-2">
            <a:extLst xmlns:a="http://schemas.openxmlformats.org/drawingml/2006/main">
              <a:ext uri="{FF2B5EF4-FFF2-40B4-BE49-F238E27FC236}">
                <a16:creationId xmlns:a16="http://schemas.microsoft.com/office/drawing/2014/main" id="{F6002757-8B7E-4527-B1F1-43839A91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9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VS Code 扩展</a:t>
            </a:r>
          </a:p>
          <a:p xmlns:a="http://schemas.openxmlformats.org/drawingml/2006/main">
            <a:pPr algn="ctr">
              <a:def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JetBrains 集成</a:t>
            </a:r>
          </a:p>
        </p:txBody>
      </p:sp>
    </p:spTree>
    <p:extLst>
      <p:ext uri="{BB962C8B-B14F-4D97-AF65-F5344CB8AC3E}">
        <p14:creationId xmlns:p14="http://schemas.microsoft.com/office/powerpoint/2010/main" val="1880729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2FE642E2-2D99-46E5-BD78-26AB242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Skill 与 AGENTS.md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00765A-A764-499F-8DD7-FFC9BF0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81725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BAEEC-666D-409C-B561-47531C2121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d47e7320a47f0">
            <a:extLst>
              <a:ext uri="{96DAC541-7B7A-43D3-8B79-37D633B846F1}">
                <asvg:svgBlip xmlns:asvg="http://schemas.microsoft.com/office/drawing/2016/SVG/main" r:embed="R57b2c0f4b4364e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14625" y="1924050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B05F8-941C-48CD-B8B2-020619180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8069d7bb642f7">
            <a:extLst>
              <a:ext uri="{96DAC541-7B7A-43D3-8B79-37D633B846F1}">
                <asvg:svgBlip xmlns:asvg="http://schemas.microsoft.com/office/drawing/2016/SVG/main" r:embed="Rb545dab1160447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19240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skill-title">
            <a:extLst xmlns:a="http://schemas.openxmlformats.org/drawingml/2006/main">
              <a:ext uri="{FF2B5EF4-FFF2-40B4-BE49-F238E27FC236}">
                <a16:creationId xmlns:a16="http://schemas.microsoft.com/office/drawing/2014/main" id="{14A54565-5B46-4CC8-B8D6-C036EB6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6" name="agents-title">
            <a:extLst xmlns:a="http://schemas.openxmlformats.org/drawingml/2006/main">
              <a:ext uri="{FF2B5EF4-FFF2-40B4-BE49-F238E27FC236}">
                <a16:creationId xmlns:a16="http://schemas.microsoft.com/office/drawing/2014/main" id="{A9232565-2C53-40DC-A327-DB7DDF8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2A36"/>
                </a:solidFill>
                <a:latin typeface="Microsoft YaHei"/>
                <a:ea typeface="Microsoft YaHei"/>
                <a:cs typeface="Microsoft YaHei"/>
              </a:rPr>
              <a:t>AGENTS.md</a:t>
            </a:r>
          </a:p>
        </p:txBody>
      </p:sp>
      <p:sp>
        <p:nvSpPr>
          <p:cNvPr id="7" name="skill-key">
            <a:extLst xmlns:a="http://schemas.openxmlformats.org/drawingml/2006/main">
              <a:ext uri="{FF2B5EF4-FFF2-40B4-BE49-F238E27FC236}">
                <a16:creationId xmlns:a16="http://schemas.microsoft.com/office/drawing/2014/main" id="{4D837BDE-7BCF-4942-8875-EE3378B6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可复用的任务方法</a:t>
            </a:r>
          </a:p>
        </p:txBody>
      </p:sp>
      <p:sp>
        <p:nvSpPr>
          <p:cNvPr id="8" name="agents-key">
            <a:extLst xmlns:a="http://schemas.openxmlformats.org/drawingml/2006/main">
              <a:ext uri="{FF2B5EF4-FFF2-40B4-BE49-F238E27FC236}">
                <a16:creationId xmlns:a16="http://schemas.microsoft.com/office/drawing/2014/main" id="{6715FAFB-12A6-426C-A786-745EF940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37A78"/>
                </a:solidFill>
                <a:latin typeface="Microsoft YaHei"/>
                <a:ea typeface="Microsoft YaHei"/>
                <a:cs typeface="Microsoft YaHei"/>
              </a:rPr>
              <a:t>项目背景与工作约定</a:t>
            </a:r>
          </a:p>
        </p:txBody>
      </p:sp>
      <p:sp>
        <p:nvSpPr>
          <p:cNvPr id="9" name="skill-details">
            <a:extLst xmlns:a="http://schemas.openxmlformats.org/drawingml/2006/main">
              <a:ext uri="{FF2B5EF4-FFF2-40B4-BE49-F238E27FC236}">
                <a16:creationId xmlns:a16="http://schemas.microsoft.com/office/drawing/2014/main" id="{F8375D0F-5B1C-4125-AEB7-D03762AD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按需加载</a:t>
            </a:r>
          </a:p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说明、模板与脚本</a:t>
            </a:r>
          </a:p>
        </p:txBody>
      </p:sp>
      <p:sp>
        <p:nvSpPr>
          <p:cNvPr id="10" name="agents-details">
            <a:extLst xmlns:a="http://schemas.openxmlformats.org/drawingml/2006/main">
              <a:ext uri="{FF2B5EF4-FFF2-40B4-BE49-F238E27FC236}">
                <a16:creationId xmlns:a16="http://schemas.microsoft.com/office/drawing/2014/main" id="{FCEFD83F-E76E-431D-96E6-54F73D53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目录与编译方法</a:t>
            </a:r>
          </a:p>
          <a:p xmlns:a="http://schemas.openxmlformats.org/drawingml/2006/main">
            <a:pPr algn="ctr">
              <a:def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27B"/>
                </a:solidFill>
                <a:latin typeface="Microsoft YaHei"/>
                <a:ea typeface="Microsoft YaHei"/>
                <a:cs typeface="Microsoft YaHei"/>
              </a:rPr>
              <a:t>规范与修改范围</a:t>
            </a:r>
          </a:p>
        </p:txBody>
      </p:sp>
    </p:spTree>
    <p:extLst>
      <p:ext uri="{BB962C8B-B14F-4D97-AF65-F5344CB8AC3E}">
        <p14:creationId xmlns:p14="http://schemas.microsoft.com/office/powerpoint/2010/main" val="648014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2026-10-21T02:10:34.9050000Z</dcterms:created>
  <dcterms:modified xsi:type="dcterms:W3CDTF">2026-10-21T02:10:34.9050000Z</dcterms:modified>
</coreProperties>
</file>