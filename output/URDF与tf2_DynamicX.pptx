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61" r:id="rId2"/>
  </p:sldMasterIdLst>
  <p:notesMasterIdLst>
    <p:notesMasterId r:id="rId15"/>
  </p:notesMasterIdLst>
  <p:sldIdLst>
    <p:sldId id="256" r:id="rIdUrdfSlide1"/>
    <p:sldId id="257" r:id="rIdUrdfSlide2"/>
    <p:sldId id="258" r:id="rIdUrdfSlide3"/>
    <p:sldId id="259" r:id="rIdUrdfSlide4"/>
    <p:sldId id="260" r:id="rIdUrdfSlide5"/>
    <p:sldId id="261" r:id="rIdUrdfSlide6"/>
    <p:sldId id="262" r:id="rIdUrdfSlide7"/>
    <p:sldId id="263" r:id="rIdUrdfSlide8"/>
    <p:sldId id="264" r:id="rIdUrdfSlide9"/>
    <p:sldId id="265" r:id="rIdUrdfSlide10"/>
    <p:sldId id="266" r:id="rIdUrdfSlide11"/>
    <p:sldId id="267" r:id="rIdUrdfSlide12"/>
    <p:sldId id="268" r:id="rIdUrdfSlide13"/>
    <p:sldId id="269" r:id="rIdUrdfSlide14"/>
    <p:sldId id="270" r:id="rIdUrdfSlide15"/>
    <p:sldId id="271" r:id="rIdUrdfSlide16"/>
    <p:sldId id="272" r:id="rIdUrdfSlide17"/>
    <p:sldId id="273" r:id="rIdUrdfSlide18"/>
    <p:sldId id="274" r:id="rIdUrdfSlide19"/>
    <p:sldId id="275" r:id="rIdUrdfSlide20"/>
    <p:sldId id="276" r:id="rIdUrdfSlide21"/>
    <p:sldId id="277" r:id="rIdUrdfSlide22"/>
    <p:sldId id="278" r:id="rIdUrdfSlide23"/>
    <p:sldId id="279" r:id="rIdUrdfSlide24"/>
    <p:sldId id="280" r:id="rIdUrdfSlide25"/>
    <p:sldId id="281" r:id="rIdUrdfSlide26"/>
    <p:sldId id="282" r:id="rIdUrdfSlide27"/>
    <p:sldId id="283" r:id="rIdUrdfSlide28"/>
    <p:sldId id="284" r:id="rIdUrdfSlide29"/>
    <p:sldId id="285" r:id="rIdUrdfSlide30"/>
    <p:sldId id="286" r:id="rIdUrdfSlide31"/>
    <p:sldId id="287" r:id="rIdUrdfSlide32"/>
    <p:sldId id="288" r:id="rIdUrdfSlide33"/>
    <p:sldId id="289" r:id="rIdUrdfSlide34"/>
    <p:sldId id="290" r:id="rIdUrdfSlide35"/>
    <p:sldId id="291" r:id="rIdUrdfSlide36"/>
    <p:sldId id="292" r:id="rIdUrdfSlide37"/>
  </p:sldIdLst>
  <p:sldSz cx="12187238" cy="6858000"/>
  <p:notesSz cx="7099300" cy="10234613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UrdfSlide1" Type="http://schemas.openxmlformats.org/officeDocument/2006/relationships/slide" Target="slides/slide1.xml"/><Relationship Id="rIdUrdfSlide2" Type="http://schemas.openxmlformats.org/officeDocument/2006/relationships/slide" Target="slides/slide2.xml"/><Relationship Id="rIdUrdfSlide3" Type="http://schemas.openxmlformats.org/officeDocument/2006/relationships/slide" Target="slides/slide3.xml"/><Relationship Id="rIdUrdfSlide4" Type="http://schemas.openxmlformats.org/officeDocument/2006/relationships/slide" Target="slides/slide4.xml"/><Relationship Id="rIdUrdfSlide5" Type="http://schemas.openxmlformats.org/officeDocument/2006/relationships/slide" Target="slides/slide5.xml"/><Relationship Id="rIdUrdfSlide6" Type="http://schemas.openxmlformats.org/officeDocument/2006/relationships/slide" Target="slides/slide6.xml"/><Relationship Id="rIdUrdfSlide7" Type="http://schemas.openxmlformats.org/officeDocument/2006/relationships/slide" Target="slides/slide7.xml"/><Relationship Id="rIdUrdfSlide8" Type="http://schemas.openxmlformats.org/officeDocument/2006/relationships/slide" Target="slides/slide8.xml"/><Relationship Id="rIdUrdfSlide9" Type="http://schemas.openxmlformats.org/officeDocument/2006/relationships/slide" Target="slides/slide9.xml"/><Relationship Id="rIdUrdfSlide10" Type="http://schemas.openxmlformats.org/officeDocument/2006/relationships/slide" Target="slides/slide10.xml"/><Relationship Id="rIdUrdfSlide11" Type="http://schemas.openxmlformats.org/officeDocument/2006/relationships/slide" Target="slides/slide11.xml"/><Relationship Id="rIdUrdfSlide12" Type="http://schemas.openxmlformats.org/officeDocument/2006/relationships/slide" Target="slides/slide12.xml"/><Relationship Id="rIdUrdfSlide13" Type="http://schemas.openxmlformats.org/officeDocument/2006/relationships/slide" Target="slides/slide13.xml"/><Relationship Id="rIdUrdfSlide14" Type="http://schemas.openxmlformats.org/officeDocument/2006/relationships/slide" Target="slides/slide14.xml"/><Relationship Id="rIdUrdfSlide15" Type="http://schemas.openxmlformats.org/officeDocument/2006/relationships/slide" Target="slides/slide15.xml"/><Relationship Id="rIdUrdfSlide16" Type="http://schemas.openxmlformats.org/officeDocument/2006/relationships/slide" Target="slides/slide16.xml"/><Relationship Id="rIdUrdfSlide17" Type="http://schemas.openxmlformats.org/officeDocument/2006/relationships/slide" Target="slides/slide17.xml"/><Relationship Id="rIdUrdfSlide18" Type="http://schemas.openxmlformats.org/officeDocument/2006/relationships/slide" Target="slides/slide18.xml"/><Relationship Id="rIdUrdfSlide19" Type="http://schemas.openxmlformats.org/officeDocument/2006/relationships/slide" Target="slides/slide19.xml"/><Relationship Id="rIdUrdfSlide20" Type="http://schemas.openxmlformats.org/officeDocument/2006/relationships/slide" Target="slides/slide20.xml"/><Relationship Id="rIdUrdfSlide21" Type="http://schemas.openxmlformats.org/officeDocument/2006/relationships/slide" Target="slides/slide21.xml"/><Relationship Id="rIdUrdfSlide22" Type="http://schemas.openxmlformats.org/officeDocument/2006/relationships/slide" Target="slides/slide22.xml"/><Relationship Id="rIdUrdfSlide23" Type="http://schemas.openxmlformats.org/officeDocument/2006/relationships/slide" Target="slides/slide23.xml"/><Relationship Id="rIdUrdfSlide24" Type="http://schemas.openxmlformats.org/officeDocument/2006/relationships/slide" Target="slides/slide24.xml"/><Relationship Id="rIdUrdfSlide25" Type="http://schemas.openxmlformats.org/officeDocument/2006/relationships/slide" Target="slides/slide25.xml"/><Relationship Id="rIdUrdfSlide26" Type="http://schemas.openxmlformats.org/officeDocument/2006/relationships/slide" Target="slides/slide26.xml"/><Relationship Id="rIdUrdfSlide27" Type="http://schemas.openxmlformats.org/officeDocument/2006/relationships/slide" Target="slides/slide27.xml"/><Relationship Id="rIdUrdfSlide28" Type="http://schemas.openxmlformats.org/officeDocument/2006/relationships/slide" Target="slides/slide28.xml"/><Relationship Id="rIdUrdfSlide29" Type="http://schemas.openxmlformats.org/officeDocument/2006/relationships/slide" Target="slides/slide29.xml"/><Relationship Id="rIdUrdfSlide30" Type="http://schemas.openxmlformats.org/officeDocument/2006/relationships/slide" Target="slides/slide30.xml"/><Relationship Id="rIdUrdfSlide31" Type="http://schemas.openxmlformats.org/officeDocument/2006/relationships/slide" Target="slides/slide31.xml"/><Relationship Id="rIdUrdfSlide32" Type="http://schemas.openxmlformats.org/officeDocument/2006/relationships/slide" Target="slides/slide32.xml"/><Relationship Id="rIdUrdfSlide33" Type="http://schemas.openxmlformats.org/officeDocument/2006/relationships/slide" Target="slides/slide33.xml"/><Relationship Id="rIdUrdfSlide34" Type="http://schemas.openxmlformats.org/officeDocument/2006/relationships/slide" Target="slides/slide34.xml"/><Relationship Id="rIdUrdfSlide35" Type="http://schemas.openxmlformats.org/officeDocument/2006/relationships/slide" Target="slides/slide35.xml"/><Relationship Id="rIdUrdfSlide36" Type="http://schemas.openxmlformats.org/officeDocument/2006/relationships/slide" Target="slides/slide36.xml"/><Relationship Id="rIdUrdfSlide37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de-DE" sz="18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1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&lt;header&gt;</a:t>
            </a:r>
          </a:p>
        </p:txBody>
      </p:sp>
      <p:sp>
        <p:nvSpPr>
          <p:cNvPr id="13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&lt;date/time&gt;</a:t>
            </a:r>
          </a:p>
        </p:txBody>
      </p:sp>
      <p:sp>
        <p:nvSpPr>
          <p:cNvPr id="13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&lt;footer&gt;</a:t>
            </a:r>
          </a:p>
        </p:txBody>
      </p:sp>
      <p:sp>
        <p:nvSpPr>
          <p:cNvPr id="14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D00AA25-ED96-41D1-A131-1AF563B514A2}" type="slidenum">
              <a:rPr lang="en-US" sz="1400" b="0" strike="noStrike" spc="-1">
                <a:latin typeface="Times New Roman" panose="02020603050405020304"/>
              </a:rPr>
              <a:t>‹#›</a:t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b8e0b8e0f684022"/><Relationship Type="http://schemas.openxmlformats.org/officeDocument/2006/relationships/notesMaster" Target="../notesMasters/notesMaster1.xml" Id="R7b107431669a407d"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4f944c5450aa4019"/><Relationship Type="http://schemas.openxmlformats.org/officeDocument/2006/relationships/notesMaster" Target="../notesMasters/notesMaster1.xml" Id="Rf0e0fadfb4db4273"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3348f8f80b0a475e"/><Relationship Type="http://schemas.openxmlformats.org/officeDocument/2006/relationships/notesMaster" Target="../notesMasters/notesMaster1.xml" Id="Reeadafdf65044a7b"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2f091d02a9e54744"/><Relationship Type="http://schemas.openxmlformats.org/officeDocument/2006/relationships/notesMaster" Target="../notesMasters/notesMaster1.xml" Id="Refba725c831641b4"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0c4f95a4b6c64919"/><Relationship Type="http://schemas.openxmlformats.org/officeDocument/2006/relationships/notesMaster" Target="../notesMasters/notesMaster1.xml" Id="Rde7042b6da004b7c"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e2d36ab9e699484b"/><Relationship Type="http://schemas.openxmlformats.org/officeDocument/2006/relationships/notesMaster" Target="../notesMasters/notesMaster1.xml" Id="R489514e97d7a461a"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771e0cb9c1c64a74"/><Relationship Type="http://schemas.openxmlformats.org/officeDocument/2006/relationships/notesMaster" Target="../notesMasters/notesMaster1.xml" Id="Rdbf4076fd3c34a36"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ee47ca3330e14b76"/><Relationship Type="http://schemas.openxmlformats.org/officeDocument/2006/relationships/notesMaster" Target="../notesMasters/notesMaster1.xml" Id="R467023df337047db"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f3a18fd9cb514357"/><Relationship Type="http://schemas.openxmlformats.org/officeDocument/2006/relationships/notesMaster" Target="../notesMasters/notesMaster1.xml" Id="R9e3157545e974334"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59d9bd9cb7894063"/><Relationship Type="http://schemas.openxmlformats.org/officeDocument/2006/relationships/notesMaster" Target="../notesMasters/notesMaster1.xml" Id="R0e88768c4c7443cd"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fd14245104504f49"/><Relationship Type="http://schemas.openxmlformats.org/officeDocument/2006/relationships/notesMaster" Target="../notesMasters/notesMaster1.xml" Id="R66ea19ca89db492e"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5419fa2c99494d8f"/><Relationship Type="http://schemas.openxmlformats.org/officeDocument/2006/relationships/notesMaster" Target="../notesMasters/notesMaster1.xml" Id="Rd54a6e9b9bea4718"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710759f9e54547c3"/><Relationship Type="http://schemas.openxmlformats.org/officeDocument/2006/relationships/notesMaster" Target="../notesMasters/notesMaster1.xml" Id="Rfbde2e77a67c4d96"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5225cb81310242ba"/><Relationship Type="http://schemas.openxmlformats.org/officeDocument/2006/relationships/notesMaster" Target="../notesMasters/notesMaster1.xml" Id="Ra6f12cf51d514f83"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/ppt/slides/slide15.xml" Id="Rd2e7265090ae4701"/><Relationship Type="http://schemas.openxmlformats.org/officeDocument/2006/relationships/notesMaster" Target="../notesMasters/notesMaster1.xml" Id="R7f0460901ce742a1"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/ppt/slides/slide16.xml" Id="R18ebc44b49e1487c"/><Relationship Type="http://schemas.openxmlformats.org/officeDocument/2006/relationships/notesMaster" Target="../notesMasters/notesMaster1.xml" Id="R5244c884531649c7"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/ppt/slides/slide17.xml" Id="Rbd95c19f498a4f17"/><Relationship Type="http://schemas.openxmlformats.org/officeDocument/2006/relationships/notesMaster" Target="../notesMasters/notesMaster1.xml" Id="Rd6de3cbdc9c24526"/></Relationships>
</file>

<file path=ppt/notesSlides/_rels/notesSlide18.xml.rels><?xml version='1.0' encoding='utf-8'?>
<Relationships xmlns="http://schemas.openxmlformats.org/package/2006/relationships"><Relationship Type="http://schemas.openxmlformats.org/officeDocument/2006/relationships/slide" Target="/ppt/slides/slide18.xml" Id="Rf64b8dec9a414b01"/><Relationship Type="http://schemas.openxmlformats.org/officeDocument/2006/relationships/notesMaster" Target="../notesMasters/notesMaster1.xml" Id="R926168e686e6410f"/></Relationships>
</file>

<file path=ppt/notesSlides/_rels/notesSlide19.xml.rels><?xml version='1.0' encoding='utf-8'?>
<Relationships xmlns="http://schemas.openxmlformats.org/package/2006/relationships"><Relationship Type="http://schemas.openxmlformats.org/officeDocument/2006/relationships/slide" Target="/ppt/slides/slide19.xml" Id="R32f0b643c4294039"/><Relationship Type="http://schemas.openxmlformats.org/officeDocument/2006/relationships/notesMaster" Target="../notesMasters/notesMaster1.xml" Id="Rfd9dbddb98ae4db5"/></Relationships>
</file>

<file path=ppt/notesSlides/_rels/notesSlide20.xml.rels><?xml version='1.0' encoding='utf-8'?>
<Relationships xmlns="http://schemas.openxmlformats.org/package/2006/relationships"><Relationship Type="http://schemas.openxmlformats.org/officeDocument/2006/relationships/slide" Target="/ppt/slides/slide20.xml" Id="Rde05b0deec374532"/><Relationship Type="http://schemas.openxmlformats.org/officeDocument/2006/relationships/notesMaster" Target="../notesMasters/notesMaster1.xml" Id="Ra60e2532064f4fa4"/></Relationships>
</file>

<file path=ppt/notesSlides/_rels/notesSlide21.xml.rels><?xml version='1.0' encoding='utf-8'?>
<Relationships xmlns="http://schemas.openxmlformats.org/package/2006/relationships"><Relationship Type="http://schemas.openxmlformats.org/officeDocument/2006/relationships/slide" Target="/ppt/slides/slide21.xml" Id="R9e4517c76e21409b"/><Relationship Type="http://schemas.openxmlformats.org/officeDocument/2006/relationships/notesMaster" Target="../notesMasters/notesMaster1.xml" Id="Rb1168f2934414160"/></Relationships>
</file>

<file path=ppt/notesSlides/_rels/notesSlide22.xml.rels><?xml version='1.0' encoding='utf-8'?>
<Relationships xmlns="http://schemas.openxmlformats.org/package/2006/relationships"><Relationship Type="http://schemas.openxmlformats.org/officeDocument/2006/relationships/slide" Target="/ppt/slides/slide22.xml" Id="R931efc60ee2e41ec"/><Relationship Type="http://schemas.openxmlformats.org/officeDocument/2006/relationships/notesMaster" Target="../notesMasters/notesMaster1.xml" Id="R1c815368a566497e"/></Relationships>
</file>

<file path=ppt/notesSlides/_rels/notesSlide23.xml.rels><?xml version='1.0' encoding='utf-8'?>
<Relationships xmlns="http://schemas.openxmlformats.org/package/2006/relationships"><Relationship Type="http://schemas.openxmlformats.org/officeDocument/2006/relationships/slide" Target="/ppt/slides/slide23.xml" Id="R7dbba95301f244de"/><Relationship Type="http://schemas.openxmlformats.org/officeDocument/2006/relationships/notesMaster" Target="../notesMasters/notesMaster1.xml" Id="R663b50e52866418a"/></Relationships>
</file>

<file path=ppt/notesSlides/_rels/notesSlide24.xml.rels><?xml version='1.0' encoding='utf-8'?>
<Relationships xmlns="http://schemas.openxmlformats.org/package/2006/relationships"><Relationship Type="http://schemas.openxmlformats.org/officeDocument/2006/relationships/slide" Target="/ppt/slides/slide24.xml" Id="R3ac49ca66770471c"/><Relationship Type="http://schemas.openxmlformats.org/officeDocument/2006/relationships/notesMaster" Target="../notesMasters/notesMaster1.xml" Id="R91bb8c4c7984454f"/></Relationships>
</file>

<file path=ppt/notesSlides/_rels/notesSlide25.xml.rels><?xml version='1.0' encoding='utf-8'?>
<Relationships xmlns="http://schemas.openxmlformats.org/package/2006/relationships"><Relationship Type="http://schemas.openxmlformats.org/officeDocument/2006/relationships/slide" Target="/ppt/slides/slide25.xml" Id="R0288be2749124d69"/><Relationship Type="http://schemas.openxmlformats.org/officeDocument/2006/relationships/notesMaster" Target="../notesMasters/notesMaster1.xml" Id="R2602544420154672"/></Relationships>
</file>

<file path=ppt/notesSlides/_rels/notesSlide26.xml.rels><?xml version='1.0' encoding='utf-8'?>
<Relationships xmlns="http://schemas.openxmlformats.org/package/2006/relationships"><Relationship Type="http://schemas.openxmlformats.org/officeDocument/2006/relationships/slide" Target="/ppt/slides/slide26.xml" Id="R7682eadad5e248fb"/><Relationship Type="http://schemas.openxmlformats.org/officeDocument/2006/relationships/notesMaster" Target="../notesMasters/notesMaster1.xml" Id="R75e6b61ba9664a98"/></Relationships>
</file>

<file path=ppt/notesSlides/_rels/notesSlide27.xml.rels><?xml version='1.0' encoding='utf-8'?>
<Relationships xmlns="http://schemas.openxmlformats.org/package/2006/relationships"><Relationship Type="http://schemas.openxmlformats.org/officeDocument/2006/relationships/slide" Target="/ppt/slides/slide27.xml" Id="Ra27de18f1af74cf1"/><Relationship Type="http://schemas.openxmlformats.org/officeDocument/2006/relationships/notesMaster" Target="../notesMasters/notesMaster1.xml" Id="R4d24c1c1412348cd"/></Relationships>
</file>

<file path=ppt/notesSlides/_rels/notesSlide28.xml.rels><?xml version='1.0' encoding='utf-8'?>
<Relationships xmlns="http://schemas.openxmlformats.org/package/2006/relationships"><Relationship Type="http://schemas.openxmlformats.org/officeDocument/2006/relationships/slide" Target="/ppt/slides/slide28.xml" Id="R3db55c95e9584427"/><Relationship Type="http://schemas.openxmlformats.org/officeDocument/2006/relationships/notesMaster" Target="../notesMasters/notesMaster1.xml" Id="R1d0ae0805a014250"/></Relationships>
</file>

<file path=ppt/notesSlides/_rels/notesSlide29.xml.rels><?xml version='1.0' encoding='utf-8'?>
<Relationships xmlns="http://schemas.openxmlformats.org/package/2006/relationships"><Relationship Type="http://schemas.openxmlformats.org/officeDocument/2006/relationships/slide" Target="/ppt/slides/slide29.xml" Id="R48841492780a4cec"/><Relationship Type="http://schemas.openxmlformats.org/officeDocument/2006/relationships/notesMaster" Target="../notesMasters/notesMaster1.xml" Id="R216c26a929b74b61"/></Relationships>
</file>

<file path=ppt/notesSlides/_rels/notesSlide30.xml.rels><?xml version='1.0' encoding='utf-8'?>
<Relationships xmlns="http://schemas.openxmlformats.org/package/2006/relationships"><Relationship Type="http://schemas.openxmlformats.org/officeDocument/2006/relationships/slide" Target="/ppt/slides/slide30.xml" Id="R2f762930ebf54506"/><Relationship Type="http://schemas.openxmlformats.org/officeDocument/2006/relationships/notesMaster" Target="../notesMasters/notesMaster1.xml" Id="R56f33a7d95514ac8"/></Relationships>
</file>

<file path=ppt/notesSlides/_rels/notesSlide31.xml.rels><?xml version='1.0' encoding='utf-8'?>
<Relationships xmlns="http://schemas.openxmlformats.org/package/2006/relationships"><Relationship Type="http://schemas.openxmlformats.org/officeDocument/2006/relationships/slide" Target="/ppt/slides/slide31.xml" Id="R0524f8581cfc481d"/><Relationship Type="http://schemas.openxmlformats.org/officeDocument/2006/relationships/notesMaster" Target="../notesMasters/notesMaster1.xml" Id="R4e7fc156ab9f4b47"/></Relationships>
</file>

<file path=ppt/notesSlides/_rels/notesSlide32.xml.rels><?xml version='1.0' encoding='utf-8'?>
<Relationships xmlns="http://schemas.openxmlformats.org/package/2006/relationships"><Relationship Type="http://schemas.openxmlformats.org/officeDocument/2006/relationships/slide" Target="/ppt/slides/slide32.xml" Id="Rafccf77d31fa4dc0"/><Relationship Type="http://schemas.openxmlformats.org/officeDocument/2006/relationships/notesMaster" Target="../notesMasters/notesMaster1.xml" Id="Rf0700e67c75146e5"/></Relationships>
</file>

<file path=ppt/notesSlides/_rels/notesSlide33.xml.rels><?xml version='1.0' encoding='utf-8'?>
<Relationships xmlns="http://schemas.openxmlformats.org/package/2006/relationships"><Relationship Type="http://schemas.openxmlformats.org/officeDocument/2006/relationships/slide" Target="/ppt/slides/slide33.xml" Id="Rac56d6bbb49a4b20"/><Relationship Type="http://schemas.openxmlformats.org/officeDocument/2006/relationships/notesMaster" Target="../notesMasters/notesMaster1.xml" Id="R169079facf9e40d6"/></Relationships>
</file>

<file path=ppt/notesSlides/_rels/notesSlide34.xml.rels><?xml version='1.0' encoding='utf-8'?>
<Relationships xmlns="http://schemas.openxmlformats.org/package/2006/relationships"><Relationship Type="http://schemas.openxmlformats.org/officeDocument/2006/relationships/slide" Target="/ppt/slides/slide34.xml" Id="Rad02fcf4b33d4823"/><Relationship Type="http://schemas.openxmlformats.org/officeDocument/2006/relationships/notesMaster" Target="../notesMasters/notesMaster1.xml" Id="R2e252b0d24b94266"/></Relationships>
</file>

<file path=ppt/notesSlides/_rels/notesSlide35.xml.rels><?xml version='1.0' encoding='utf-8'?>
<Relationships xmlns="http://schemas.openxmlformats.org/package/2006/relationships"><Relationship Type="http://schemas.openxmlformats.org/officeDocument/2006/relationships/slide" Target="/ppt/slides/slide35.xml" Id="R70f6fb293d3646e6"/><Relationship Type="http://schemas.openxmlformats.org/officeDocument/2006/relationships/notesMaster" Target="../notesMasters/notesMaster1.xml" Id="R80d32480765b4225"/></Relationships>
</file>

<file path=ppt/notesSlides/_rels/notesSlide36.xml.rels><?xml version='1.0' encoding='utf-8'?>
<Relationships xmlns="http://schemas.openxmlformats.org/package/2006/relationships"><Relationship Type="http://schemas.openxmlformats.org/officeDocument/2006/relationships/slide" Target="/ppt/slides/slide36.xml" Id="R1615eb9ff6564dcd"/><Relationship Type="http://schemas.openxmlformats.org/officeDocument/2006/relationships/notesMaster" Target="../notesMasters/notesMaster1.xml" Id="Reea0e0d5931345f2"/></Relationships>
</file>

<file path=ppt/notesSlides/_rels/notesSlide37.xml.rels><?xml version='1.0' encoding='utf-8'?>
<Relationships xmlns="http://schemas.openxmlformats.org/package/2006/relationships"><Relationship Type="http://schemas.openxmlformats.org/officeDocument/2006/relationships/slide" Target="/ppt/slides/slide37.xml" Id="R217ceb97f97c44b5"/><Relationship Type="http://schemas.openxmlformats.org/officeDocument/2006/relationships/notesMaster" Target="../notesMasters/notesMaster1.xml" Id="Rd019e5099195452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URDF 与 tf2 课程讲稿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本课程面向已经学习 ROS 节点、话题、launch 与 catkin 的控制组新成员，采用 ROS 1 Noetic 的术语和接口。第一讲从 XML 开始，逐步写出底盘、车轮与雷达的 URDF 描述。第二讲先解决一个小车定位问题，再扩展到三维位姿和欧拉角。理解万向节锁后，用复数的平面旋转引入轴角与四元数，最后回到 tf2 的位姿计算。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语法示例采用一辆尺寸简化的教学小车，底盘坐标系为 `base_link`，雷达坐标系为 `lidar_link`。这些尺寸用于课堂推导。前序作业中的 SMB 工程作为实际阅读示例，其雷达帧使用 `rslidar` 等名称，参数以该工程实际展开的模型为准。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配图来源：ETH Zürich ROS Course 2021 第三讲 SMB 模型图。</a:t>
            </a:r>
          </a:p>
          <a:p xmlns:a="http://schemas.openxmlformats.org/drawingml/2006/main">
            <a:r>
              <a:t>https://ethz.ch/content/dam/ethz/special-interest/mavt/robotics-n-intelligent-systems/rsl-dam/ROS2021/lec3/ROS%20Course%20Slides%20Course%203.pdf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 XML 怎样记录机器人信息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前面运行仿真时，我们已经在 RViz 中看到过小车。接下来从描述文件入手，看程序怎样知道底盘的尺寸、车轮的位置，以及雷达安装在哪里。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URDF 的全称是 Unified Robot Description Format，即统一机器人描述格式。它使用 XML 记录机器人部件、部件连接和物理属性。先掌握 XML 的写法，再学习 URDF 规定的标签，就能逐步读懂模型文件。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XML 通过元素组织内容。一个元素通常由开始标签、内部内容和结束标签构成，标签上的属性进一步给出名称或数值。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&lt;link name="base_link"&gt;</a:t>
            </a:r>
          </a:p>
          <a:p xmlns:a="http://schemas.openxmlformats.org/drawingml/2006/main">
            <a:r>
              <a:t>  &lt;visual&gt;</a:t>
            </a:r>
          </a:p>
          <a:p xmlns:a="http://schemas.openxmlformats.org/drawingml/2006/main">
            <a:r>
              <a:t>    &lt;geometry&gt;</a:t>
            </a:r>
          </a:p>
          <a:p xmlns:a="http://schemas.openxmlformats.org/drawingml/2006/main">
            <a:r>
              <a:t>      &lt;box size="0.6 0.4 0.2"/&gt;</a:t>
            </a:r>
          </a:p>
          <a:p xmlns:a="http://schemas.openxmlformats.org/drawingml/2006/main">
            <a:r>
              <a:t>    &lt;/geometry&gt;</a:t>
            </a:r>
          </a:p>
          <a:p xmlns:a="http://schemas.openxmlformats.org/drawingml/2006/main">
            <a:r>
              <a:t>  &lt;/visual&gt;</a:t>
            </a:r>
          </a:p>
          <a:p xmlns:a="http://schemas.openxmlformats.org/drawingml/2006/main">
            <a:r>
              <a:t>&lt;/link&gt;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`link`、`visual`、`geometry` 和 `box` 都是元素名。`name="base_link"` 为 link 指定名称，`size="0.6 0.4 0.2"` 为长方体指定尺寸。`box` 内部没有其他内容，因此使用 `/&gt;` 结束，这种写法称为自闭合标签。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XML 文档需要一个根元素，标签要正确嵌套并闭合，名称区分大小写，属性值需要引号。缩进用于帮助阅读，实际层次由标签决定。上面这段是模型内部的片段，完整 URDF 还需要在外面包上 `robot` 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 第一个 URDF：用长方体表示底盘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下面是一份完整的单底盘 URDF，可以保存为 `car.urdf`。文件声明机器人名为 `teaching_car`，包含一个名为 `base_link` 的 link。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&lt;?xml version="1.0"?&gt;</a:t>
            </a:r>
          </a:p>
          <a:p xmlns:a="http://schemas.openxmlformats.org/drawingml/2006/main">
            <a:r>
              <a:t>&lt;robot name="teaching_car"&gt;</a:t>
            </a:r>
          </a:p>
          <a:p xmlns:a="http://schemas.openxmlformats.org/drawingml/2006/main">
            <a:r>
              <a:t>  &lt;link name="base_link"&gt;</a:t>
            </a:r>
          </a:p>
          <a:p xmlns:a="http://schemas.openxmlformats.org/drawingml/2006/main">
            <a:r>
              <a:t>    &lt;visual&gt;</a:t>
            </a:r>
          </a:p>
          <a:p xmlns:a="http://schemas.openxmlformats.org/drawingml/2006/main">
            <a:r>
              <a:t>      &lt;origin xyz="0 0 0" rpy="0 0 0"/&gt;</a:t>
            </a:r>
          </a:p>
          <a:p xmlns:a="http://schemas.openxmlformats.org/drawingml/2006/main">
            <a:r>
              <a:t>      &lt;geometry&gt;</a:t>
            </a:r>
          </a:p>
          <a:p xmlns:a="http://schemas.openxmlformats.org/drawingml/2006/main">
            <a:r>
              <a:t>        &lt;box size="0.6 0.4 0.2"/&gt;</a:t>
            </a:r>
          </a:p>
          <a:p xmlns:a="http://schemas.openxmlformats.org/drawingml/2006/main">
            <a:r>
              <a:t>      &lt;/geometry&gt;</a:t>
            </a:r>
          </a:p>
          <a:p xmlns:a="http://schemas.openxmlformats.org/drawingml/2006/main">
            <a:r>
              <a:t>      &lt;material name="blue"&gt;</a:t>
            </a:r>
          </a:p>
          <a:p xmlns:a="http://schemas.openxmlformats.org/drawingml/2006/main">
            <a:r>
              <a:t>        &lt;color rgba="0.1 0.4 0.8 1"/&gt;</a:t>
            </a:r>
          </a:p>
          <a:p xmlns:a="http://schemas.openxmlformats.org/drawingml/2006/main">
            <a:r>
              <a:t>      &lt;/material&gt;</a:t>
            </a:r>
          </a:p>
          <a:p xmlns:a="http://schemas.openxmlformats.org/drawingml/2006/main">
            <a:r>
              <a:t>    &lt;/visual&gt;</a:t>
            </a:r>
          </a:p>
          <a:p xmlns:a="http://schemas.openxmlformats.org/drawingml/2006/main">
            <a:r>
              <a:t>  &lt;/link&gt;</a:t>
            </a:r>
          </a:p>
          <a:p xmlns:a="http://schemas.openxmlformats.org/drawingml/2006/main">
            <a:r>
              <a:t>&lt;/robot&gt;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`robot` 包住整份机器人描述，`link` 表示一个刚体并提供附着在它上面的局部坐标系。刚体建模忽略部件内部的形变。底盘与车轮可以相对转动，因此通常分成不同 link。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`visual` 描述显示外观。`box` 的三个数按 x、y、z 顺序给出完整边长，单位是米，所以这个底盘长 0.6 m、宽 0.4 m、高 0.2 m。`rgba` 的四项分别表示红、绿、蓝和不透明度，取值通常为 0 到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其他常见几何体包括圆柱和球。圆柱使用 `radius` 与 `length`，球使用 `radius`。复杂外形可以通过 `mesh` 引用模型文件，但需要同时确认网格的单位、朝向和缩放。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 origin 描述几何体怎样摆放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坐标系由一个原点和三根互相垂直的坐标轴组成。它可以附着在底盘、车轮或传感器上，原点由建模者选择。`base_link` 的名称只说明它承担车体参考系的角色，具体原点还要看模型定义。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上例中，visual 的 `origin` 为零，长方体中心与 `base_link` 原点重合。若改成下面的写法，长方体会沿 `base_link` 的正 z 方向移动 0.1 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&lt;origin xyz="0 0 0.1" rpy="0 0 0"/&gt;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`xyz` 表示平移，`rpy` 表示方向。这里先把 `rpy="0 0 0"` 理解为轴向一致，三个角的详细含义放到第二讲展开。URDF 的长度单位是米，旋转角单位是弧度。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内的 origin 只决定外观相对于所属 link 的摆放。改变这个值后，`base_link` 坐标系本身仍保持原来的定义。后面 joint 中也会出现 origin，读取时要结合它所在的标签判断参考关系。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4 用 fixed joint 将雷达安装到底盘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现在给小车增加雷达。先定义雷达自身的 link，再用 joint 把它连接到底盘。下面的内容放在前面同一个 `robot` 内，与 `base_link` 并列。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&lt;link name="lidar_link"&gt;</a:t>
            </a:r>
          </a:p>
          <a:p xmlns:a="http://schemas.openxmlformats.org/drawingml/2006/main">
            <a:r>
              <a:t>  &lt;visual&gt;</a:t>
            </a:r>
          </a:p>
          <a:p xmlns:a="http://schemas.openxmlformats.org/drawingml/2006/main">
            <a:r>
              <a:t>    &lt;geometry&gt;</a:t>
            </a:r>
          </a:p>
          <a:p xmlns:a="http://schemas.openxmlformats.org/drawingml/2006/main">
            <a:r>
              <a:t>      &lt;cylinder radius="0.05" length="0.06"/&gt;</a:t>
            </a:r>
          </a:p>
          <a:p xmlns:a="http://schemas.openxmlformats.org/drawingml/2006/main">
            <a:r>
              <a:t>    &lt;/geometry&gt;</a:t>
            </a:r>
          </a:p>
          <a:p xmlns:a="http://schemas.openxmlformats.org/drawingml/2006/main">
            <a:r>
              <a:t>    &lt;material name="gray"&gt;</a:t>
            </a:r>
          </a:p>
          <a:p xmlns:a="http://schemas.openxmlformats.org/drawingml/2006/main">
            <a:r>
              <a:t>      &lt;color rgba="0.3 0.3 0.3 1"/&gt;</a:t>
            </a:r>
          </a:p>
          <a:p xmlns:a="http://schemas.openxmlformats.org/drawingml/2006/main">
            <a:r>
              <a:t>    &lt;/material&gt;</a:t>
            </a:r>
          </a:p>
          <a:p xmlns:a="http://schemas.openxmlformats.org/drawingml/2006/main">
            <a:r>
              <a:t>  &lt;/visual&gt;</a:t>
            </a:r>
          </a:p>
          <a:p xmlns:a="http://schemas.openxmlformats.org/drawingml/2006/main">
            <a:r>
              <a:t>&lt;/link&gt;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&lt;joint name="base_to_lidar" type="fixed"&gt;</a:t>
            </a:r>
          </a:p>
          <a:p xmlns:a="http://schemas.openxmlformats.org/drawingml/2006/main">
            <a:r>
              <a:t>  &lt;parent link="base_link"/&gt;</a:t>
            </a:r>
          </a:p>
          <a:p xmlns:a="http://schemas.openxmlformats.org/drawingml/2006/main">
            <a:r>
              <a:t>  &lt;child link="lidar_link"/&gt;</a:t>
            </a:r>
          </a:p>
          <a:p xmlns:a="http://schemas.openxmlformats.org/drawingml/2006/main">
            <a:r>
              <a:t>  &lt;origin xyz="0.2 0 0.3" rpy="0 0 0"/&gt;</a:t>
            </a:r>
          </a:p>
          <a:p xmlns:a="http://schemas.openxmlformats.org/drawingml/2006/main">
            <a:r>
              <a:t>&lt;/joint&gt;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`parent` 指定父 link，`child` 指定子 link。这个 joint 说明雷达原点位于底盘原点前方 0.2 m、上方 0.3 m，坐标轴与底盘同向。`fixed` 表示这对 link 的相对位姿保持不变。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小车行驶时，底盘与雷达一起移动，雷达相对于底盘的安装关系仍然固定。第二讲会用到的装配变换，就来自这里的 joint origin 或对应的实际标定结果。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这里也能看到两种树的区别：XML 嵌套组织文件内容，link 与 joint 的名称引用组织机器人连接。两个 link 在 XML 中并列书写，依然可以通过 joint 建立父子关系。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5 用可动 joint 描述车轮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雷达固定在底盘上，车轮则需要转动。我们继续定义一个左前轮，并让它通过 continuous joint 连接到底盘。示例车轮半径为 0.1 m，宽度为 0.04 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&lt;link name="left_front_wheel"&gt;</a:t>
            </a:r>
          </a:p>
          <a:p xmlns:a="http://schemas.openxmlformats.org/drawingml/2006/main">
            <a:r>
              <a:t>  &lt;visual&gt;</a:t>
            </a:r>
          </a:p>
          <a:p xmlns:a="http://schemas.openxmlformats.org/drawingml/2006/main">
            <a:r>
              <a:t>    &lt;geometry&gt;</a:t>
            </a:r>
          </a:p>
          <a:p xmlns:a="http://schemas.openxmlformats.org/drawingml/2006/main">
            <a:r>
              <a:t>      &lt;cylinder radius="0.1" length="0.04"/&gt;</a:t>
            </a:r>
          </a:p>
          <a:p xmlns:a="http://schemas.openxmlformats.org/drawingml/2006/main">
            <a:r>
              <a:t>    &lt;/geometry&gt;</a:t>
            </a:r>
          </a:p>
          <a:p xmlns:a="http://schemas.openxmlformats.org/drawingml/2006/main">
            <a:r>
              <a:t>  &lt;/visual&gt;</a:t>
            </a:r>
          </a:p>
          <a:p xmlns:a="http://schemas.openxmlformats.org/drawingml/2006/main">
            <a:r>
              <a:t>&lt;/link&gt;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&lt;joint name="left_front_wheel_joint" type="continuous"&gt;</a:t>
            </a:r>
          </a:p>
          <a:p xmlns:a="http://schemas.openxmlformats.org/drawingml/2006/main">
            <a:r>
              <a:t>  &lt;parent link="base_link"/&gt;</a:t>
            </a:r>
          </a:p>
          <a:p xmlns:a="http://schemas.openxmlformats.org/drawingml/2006/main">
            <a:r>
              <a:t>  &lt;child link="left_front_wheel"/&gt;</a:t>
            </a:r>
          </a:p>
          <a:p xmlns:a="http://schemas.openxmlformats.org/drawingml/2006/main">
            <a:r>
              <a:t>  &lt;origin xyz="0.2 0.24 -0.1" rpy="-1.57079632679 0 0"/&gt;</a:t>
            </a:r>
          </a:p>
          <a:p xmlns:a="http://schemas.openxmlformats.org/drawingml/2006/main">
            <a:r>
              <a:t>  &lt;axis xyz="0 0 1"/&gt;</a:t>
            </a:r>
          </a:p>
          <a:p xmlns:a="http://schemas.openxmlformats.org/drawingml/2006/main">
            <a:r>
              <a:t>&lt;/joint&gt;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圆柱的局部轴沿 z 方向，joint 的安装旋转把这根轴转到车体的左右方向。`axis` 在关节局部坐标系中表达，因此这里的 `0 0 1` 需要和 origin 的方向一起阅读。车轮的实时转角再叠加到安装关系上，决定它当前的姿态。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四个轮子可以采用相同写法，再分别调整名称和安装位置。前后轮通过 x 的正负区分，左右轮通过 y 的正负区分。车轮尺寸、安装位置和关节名称都需要与所采用的小车模型一致。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常见关节类型可以按运动方式理解：`fixed` 固定相对位姿，`continuous` 允许绕一根轴连续旋转，`revolute` 表示有角度范围的转动，`prismatic` 表示有行程范围的直线移动。后两类还需要位置上下限，限制字段的单位随关节类型变化。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URDF 规定关节允许怎样运动，当前角度或位移需要另外提供。给车轮填写 continuous，只完成了运动关系的描述，电机控制与状态测量还需要相应节点。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6 外观、碰撞和惯性分别怎样写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目前的小车模型主要用于理解外观和运动学。需要进行碰撞或动力学计算时，还会用到 `collision` 和 `inertial`。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`visual` 决定看到什么，`collision` 提供碰撞计算的几何体，`inertial` 提供质量、质心和转动惯量。它们可以采用不同的几何细节。例如车轮外观引用精细网格，碰撞体使用圆柱，以减少碰撞计算量。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下面是一个质量为 10 kg、尺寸为 0.6 × 0.4 × 0.2 m 的均匀长方体惯性片段。它用于解释字段，并采用质心位于 link 原点、惯性轴与长方体边平行的假设。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&lt;inertial&gt;</a:t>
            </a:r>
          </a:p>
          <a:p xmlns:a="http://schemas.openxmlformats.org/drawingml/2006/main">
            <a:r>
              <a:t>  &lt;origin xyz="0 0 0" rpy="0 0 0"/&gt;</a:t>
            </a:r>
          </a:p>
          <a:p xmlns:a="http://schemas.openxmlformats.org/drawingml/2006/main">
            <a:r>
              <a:t>  &lt;mass value="10"/&gt;</a:t>
            </a:r>
          </a:p>
          <a:p xmlns:a="http://schemas.openxmlformats.org/drawingml/2006/main">
            <a:r>
              <a:t>  &lt;inertia ixx="0.166666667" ixy="0" ixz="0"</a:t>
            </a:r>
          </a:p>
          <a:p xmlns:a="http://schemas.openxmlformats.org/drawingml/2006/main">
            <a:r>
              <a:t>           iyy="0.333333333" iyz="0" izz="0.433333333"/&gt;</a:t>
            </a:r>
          </a:p>
          <a:p xmlns:a="http://schemas.openxmlformats.org/drawingml/2006/main">
            <a:r>
              <a:t>&lt;/inertial&gt;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`mass` 的单位为 kg，惯量单位为 kg·m²。惯量同时取决于质量分布和参考轴，实际模型应使用 CAD、测量结果或满足假设的几何公式。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几类 origin 的参考关系可以集中记住：visual、collision 和 inertial 内的 origin 都相对所属 link，joint origin 相对父 link，表示关节零位的安装关系。外观位置、质心位置与机械连接点可以各自选择，读取时需要分别确认。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配图来源：已有 URDF 教学素材，通用 link 外观、碰撞与惯性关系。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7 URDF 连接树与名称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URDF 的 link 和 joint 组成一棵树，每个非根 link 只有一个父关节，连接中没有闭环。我们的示例以 `base_link` 为根，雷达和四个车轮分别通过各自的 joint 连接到底盘。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link 名称需要唯一，joint 名称也需要唯一。joint 中引用的 parent 和 child 必须能在模型中找到。XML 标签正确闭合之后，还要继续检查这些引用和连接，才能确定机器人模型完整。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关节名称也会出现在状态消息和控制器配置中。例如模型使用 `left_front_wheel_joint`，发布关节位置的消息就需要使用同一名称。名称是不同程序对应同一个部件的重要依据。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配图来源：已有 URDF 教学素材，通用 link 与 joint 连接关系。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8 xacro 怎样减少重复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把四个轮子的 XML 分别写一遍后，会发现尺寸和结构重复了很多次。xacro 为 XML 增加参数、表达式和宏，使重复部件可以统一定义，再按位置和名称实例化。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 xacro 时，robot 需要声明相应命名空间。下面是参数与宏调用的一个小片段。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&lt;robot name="teaching_car"</a:t>
            </a:r>
          </a:p>
          <a:p xmlns:a="http://schemas.openxmlformats.org/drawingml/2006/main">
            <a:r>
              <a:t>       xmlns:xacro="http://www.ros.org/wiki/xacro"&gt;</a:t>
            </a:r>
          </a:p>
          <a:p xmlns:a="http://schemas.openxmlformats.org/drawingml/2006/main">
            <a:r>
              <a:t>  &lt;xacro:property name="wheel_radius" value="0.1"/&gt;</a:t>
            </a:r>
          </a:p>
          <a:p xmlns:a="http://schemas.openxmlformats.org/drawingml/2006/main">
            <a:r>
              <a:t>  &lt;xacro:property name="half_track" value="0.24"/&gt;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&lt;xacro:macro name="wheel" params="name x y"&gt;</a:t>
            </a:r>
          </a:p>
          <a:p xmlns:a="http://schemas.openxmlformats.org/drawingml/2006/main">
            <a:r>
              <a:t>    &lt;link name="${name}"&gt;</a:t>
            </a:r>
          </a:p>
          <a:p xmlns:a="http://schemas.openxmlformats.org/drawingml/2006/main">
            <a:r>
              <a:t>      &lt;visual&gt;</a:t>
            </a:r>
          </a:p>
          <a:p xmlns:a="http://schemas.openxmlformats.org/drawingml/2006/main">
            <a:r>
              <a:t>        &lt;geometry&gt;</a:t>
            </a:r>
          </a:p>
          <a:p xmlns:a="http://schemas.openxmlformats.org/drawingml/2006/main">
            <a:r>
              <a:t>          &lt;cylinder radius="${wheel_radius}" length="0.04"/&gt;</a:t>
            </a:r>
          </a:p>
          <a:p xmlns:a="http://schemas.openxmlformats.org/drawingml/2006/main">
            <a:r>
              <a:t>        &lt;/geometry&gt;</a:t>
            </a:r>
          </a:p>
          <a:p xmlns:a="http://schemas.openxmlformats.org/drawingml/2006/main">
            <a:r>
              <a:t>      &lt;/visual&gt;</a:t>
            </a:r>
          </a:p>
          <a:p xmlns:a="http://schemas.openxmlformats.org/drawingml/2006/main">
            <a:r>
              <a:t>    &lt;/link&gt;</a:t>
            </a:r>
          </a:p>
          <a:p xmlns:a="http://schemas.openxmlformats.org/drawingml/2006/main">
            <a:r>
              <a:t>    &lt;joint name="${name}_joint" type="continuous"&gt;</a:t>
            </a:r>
          </a:p>
          <a:p xmlns:a="http://schemas.openxmlformats.org/drawingml/2006/main">
            <a:r>
              <a:t>      &lt;parent link="base_link"/&gt;</a:t>
            </a:r>
          </a:p>
          <a:p xmlns:a="http://schemas.openxmlformats.org/drawingml/2006/main">
            <a:r>
              <a:t>      &lt;child link="${name}"/&gt;</a:t>
            </a:r>
          </a:p>
          <a:p xmlns:a="http://schemas.openxmlformats.org/drawingml/2006/main">
            <a:r>
              <a:t>      &lt;origin xyz="${x} ${y} -0.1" rpy="-1.57079632679 0 0"/&gt;</a:t>
            </a:r>
          </a:p>
          <a:p xmlns:a="http://schemas.openxmlformats.org/drawingml/2006/main">
            <a:r>
              <a:t>      &lt;axis xyz="0 0 1"/&gt;</a:t>
            </a:r>
          </a:p>
          <a:p xmlns:a="http://schemas.openxmlformats.org/drawingml/2006/main">
            <a:r>
              <a:t>    &lt;/joint&gt;</a:t>
            </a:r>
          </a:p>
          <a:p xmlns:a="http://schemas.openxmlformats.org/drawingml/2006/main">
            <a:r>
              <a:t>  &lt;/xacro:macro&gt;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&lt;xacro:wheel name="left_front_wheel" x="0.2" y="${half_track}"/&gt;</a:t>
            </a:r>
          </a:p>
          <a:p xmlns:a="http://schemas.openxmlformats.org/drawingml/2006/main">
            <a:r>
              <a:t>  &lt;xacro:wheel name="right_front_wheel" x="0.2" y="${-half_track}"/&gt;</a:t>
            </a:r>
          </a:p>
          <a:p xmlns:a="http://schemas.openxmlformats.org/drawingml/2006/main">
            <a:r>
              <a:t>&lt;/robot&gt;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这个片段展示语法，使用时还要补上前面定义的 `base_link`。`property` 保存模型内部的数值，`${...}` 引用属性或计算表达式。`macro` 定义重复结构，调用时传入名称和位置，就会生成对应的 link 与 joint。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模型需要接收外部配置时，可以使用 `arg`，通过 `$(arg 参数名)` 读取。多个文件之间还可以用 `xacro:include` 组织定义。xacro 最终展开为普通 URDF，ROS 中使用模型的程序读取展开后的描述。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9 回到 SMB 的几个模型片段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现在再看前序作业的 SMB 文件，就可以直接识别其中的 link、joint、origin 和宏调用。它的底盘尺寸为 0.605 × 0.410 × 0.197 m，四个车轮通过 wheel 宏生成，前缀 LF、RF、LH、RH 分别表示左前、右前、左后、右后。[SMB 作业包](https://ethz.ch/content/dam/ethz/special-interest/mavt/robotics-n-intelligent-systems/rsl-dam/ROS2021/lec3/smb_common_v2.zip)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下面节选 wheel 宏中的连接字段，省略了动力学和控制相关内容。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```xml</a:t>
            </a:r>
          </a:p>
          <a:p xmlns:a="http://schemas.openxmlformats.org/drawingml/2006/main">
            <a:r>
              <a:t>&lt;joint name="${prefix}_WHEEL_JOINT" type="${wheel_joint_type}"&gt;</a:t>
            </a:r>
          </a:p>
          <a:p xmlns:a="http://schemas.openxmlformats.org/drawingml/2006/main">
            <a:r>
              <a:t>  &lt;parent link="${base_link_name}"/&gt;</a:t>
            </a:r>
          </a:p>
          <a:p xmlns:a="http://schemas.openxmlformats.org/drawingml/2006/main">
            <a:r>
              <a:t>  &lt;child link="${prefix}_WHEEL"/&gt;</a:t>
            </a:r>
          </a:p>
          <a:p xmlns:a="http://schemas.openxmlformats.org/drawingml/2006/main">
            <a:r>
              <a:t>  &lt;origin xyz="${X} ${Y} ${wheelHeight - chassisHeight/2.0}"</a:t>
            </a:r>
          </a:p>
          <a:p xmlns:a="http://schemas.openxmlformats.org/drawingml/2006/main">
            <a:r>
              <a:t>          rpy="-${0.5*PI} 0 0"/&gt;</a:t>
            </a:r>
          </a:p>
          <a:p xmlns:a="http://schemas.openxmlformats.org/drawingml/2006/main">
            <a:r>
              <a:t>  &lt;axis xyz="0 0 1"/&gt;</a:t>
            </a:r>
          </a:p>
          <a:p xmlns:a="http://schemas.openxmlformats.org/drawingml/2006/main">
            <a:r>
              <a:t>&lt;/joint&gt;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读这个片段时，先找父子 link，再看安装位姿，最后结合局部 axis 理解转轴方向。宏参数 `prefix` 同时参与 link 与 joint 命名，因此每次调用会生成不同的部件。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SMB 的非仿真分支还直接定义了 `base_to_rslidar`，其 origin 为 `xyz="0 0 0.31"`、`rpy="0 0 4.71238"`。仿真分支则调用外部 VLP-16 宏。实际使用时要确认分支、消息 frame_id 和展开结果，课堂小车的 `0.2 0 0.3` 参数单独用于本稿的推导。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配图来源：ETH Zürich ROS Course 2021 第三讲 SMB 简化模型图。</a:t>
            </a:r>
          </a:p>
          <a:p xmlns:a="http://schemas.openxmlformats.org/drawingml/2006/main">
            <a:r>
              <a:t>https://ethz.ch/content/dam/ethz/special-interest/mavt/robotics-n-intelligent-systems/rsl-dam/ROS2021/lec3/ROS%20Course%20Slides%20Course%203.pdf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10 模型怎样进入 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URDF 或展开后的 xacro 通常通过 `robot_description` 提供给 ROS 节点。`robot_state_publisher` 读取模型，再结合 `JointState` 中的关节位置，计算各个 link 之间的坐标关系。固定连接使用 `/tf_static`，可动连接通过 `/tf` 更新。[robot_state_publisher 官方实现](https://github.com/ros/robot_state_publisher)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`JointState` 的 `name` 与 `position` 按项配对，时间戳说明状态属于哪个时刻。状态可以来自 GUI、编码器或仿真接口。RViz 的 RobotModel 使用模型外观与 TF 显示机器人。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这里，我们已经能够读懂小车由哪些部件组成、部件怎样安装、哪些关节能够运动。这一讲先完成机器人描述的学习。接下来换一个问题：如果定位程序已经知道雷达在环境中的位姿，怎样利用刚才写出的安装关系，求出车体在环境中的位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10 模型怎样进入 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URDF 或展开后的 xacro 通常通过 `robot_description` 提供给 ROS 节点。`robot_state_publisher` 读取模型，再结合 `JointState` 中的关节位置，计算各个 link 之间的坐标关系。固定连接使用 `/tf_static`，可动连接通过 `/tf` 更新。[robot_state_publisher 官方实现](https://github.com/ros/robot_state_publisher)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`JointState` 的 `name` 与 `position` 按项配对，时间戳说明状态属于哪个时刻。状态可以来自 GUI、编码器或仿真接口。RViz 的 RobotModel 使用模型外观与 TF 显示机器人。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这里，我们已经能够读懂小车由哪些部件组成、部件怎样安装、哪些关节能够运动。这一讲先完成机器人描述的学习。接下来换一个问题：如果定位程序已经知道雷达在环境中的位姿，怎样利用刚才写出的安装关系，求出车体在环境中的位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配图来源：ETH Zürich ROS Course 2021 第三讲 SMB RViz 帧显示。</a:t>
            </a:r>
          </a:p>
          <a:p xmlns:a="http://schemas.openxmlformats.org/drawingml/2006/main">
            <a:r>
              <a:t>https://ethz.ch/content/dam/ethz/special-interest/mavt/robotics-n-intelligent-systems/rsl-dam/ROS2021/lec3/ROS%20Course%20Slides%20Course%203.pdf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 小车、雷达与世界坐标系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第二讲先用俯视图讨论小车，暂时只考虑平面运动。定义世界坐标系 W、车体坐标系 B 和雷达坐标系 L。W 用于描述环境中的位置，B 固定在车体上，L 固定在雷达上。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ROS 中，B 可以取 `base_link`，L 可以取 `lidar_link`。本讲的 W 表示所选环境参考系，代码示例取 `map`。实际工程也可能在 `odom` 中做计算，使用时要服从定位系统的帧定义。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按照 ROS 常用机体约定，x 向前、y 向左、z 向上，坐标系采用右手系。沿正轴观察旋转方向时，要同时明确观察视角。对于正 z 朝上的平面小车，从上方看，正 yaw 表现为逆时针旋转。[REP 103](https://github.com/ros-infrastructure/rep/blob/master/rep-0103.rst)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一个点在雷达系中写成 `(1, 0)`，表示它位于雷达正 x 方向一米处。若雷达原点与底盘原点不同，或者雷达轴向与底盘轴向不同，这个点在车体系中的坐标就需要重新计算。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 坐标变换先解决平移和旋转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先看只有平移的情况。若雷达在车体前方 0.2 m，雷达与车体同向，那么雷达系中的点 `(1, 0)` 在车体系中就是 `(1.2, 0)`。这个结果同时包含雷达前方的一米距离和雷达自身的安装偏移。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再增加旋转。如果雷达的正 x 轴指向车体正 y，那么雷达前方一米换到车体系中，就沿车体正 y 方向。加上车体正 x 方向 0.2 m 的安装偏移后，结果成为 `(0.2, 1)`。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把这两步合在一起，点坐标满足：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{}^B\boldsymbol p={}^BR_L\,{}^L\boldsymbol p+{}^B\boldsymbol t_L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左上标说明数值在哪个坐标系中表达。旋转矩阵 `R` 把雷达的轴向换成车体的轴向，平移 `t` 表示雷达原点在车体系中的位置。同一个物理点保持原位，我们改变了描述它的参考系。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配图来源：ImageGen 生成的二维坐标换算示意图，距离按文字标注理解。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 已知雷达位姿，为什么能够求车体位姿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把注意力从一个目标点转到整台小车。假设激光定位程序通过扫描匹配，已经估计出雷达在世界系中的位置和朝向。雷达又刚性安装在车体上，装配关系已经通过模型或标定给出。两份信息结合后，就可以恢复车体在世界系中的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这里需要完整的雷达位姿。只给出雷达原点的世界坐标时，朝向仍然未知，车体可能以不同方向绕这个安装点摆放。加入雷达朝向和已知装配关系后，刚性连接的车体坐标系才能确定。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为统一记录平移和旋转，用 `T` 表示刚体变换。约定 ${}^AT_B$ 表示 B 坐标系在 A 中的位姿，同时把 B 中的点坐标转换到 A。这个约定会一直用于后面的公式和代码。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我们已知的安装关系是 ${}^BT_L$，已知的定位结果是 ${}^WT_L$，要求的车体位姿是 ${}^WT_B$。三者满足：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{}^WT_L={}^WT_B\,{}^BT_L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这个等式表示，先按雷达到车体的关系换算，再按车体到世界的关系换算，可以得到雷达到世界的完整关系。将安装关系求逆，就得到本讲的核心计算：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\boxed{{}^WT_B={}^WT_L\,({}^BT_L)^{-1}}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这里的逆变换把装配关系反向使用。右侧先作用，两个相邻变换中间的参考系需要对应。求出车体位姿后，还可以代回前一个等式，检查能否恢复原来的雷达位姿。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4 一个转过九十度的小车例子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回到第一讲的教学小车。雷达在车体前方 0.2 m、上方 0.3 m，雷达轴向与车体一致。先只看俯视图，平面安装参数为位置 `(0.2, 0)`、角度 `0`。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设定位程序给出雷达的世界坐标为 `(5, 3)` m，雷达正 x 相对世界正 x 旋转了 90°。因为安装轴向一致，车体也朝向世界正 y。车体到雷达的前向 0.2 m，此时在世界系中沿正 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因此，车体原点在世界系中的位置为：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\boldsymbol p^W_B</a:t>
            </a:r>
          </a:p>
          <a:p xmlns:a="http://schemas.openxmlformats.org/drawingml/2006/main">
            <a:r>
              <a:t>=\begin{bmatrix}5\\3\end{bmatrix}</a:t>
            </a:r>
          </a:p>
          <a:p xmlns:a="http://schemas.openxmlformats.org/drawingml/2006/main">
            <a:r>
              <a:t>-R_z(\pi/2)\begin{bmatrix}0.2\\0\end{bmatrix}</a:t>
            </a:r>
          </a:p>
          <a:p xmlns:a="http://schemas.openxmlformats.org/drawingml/2006/main">
            <a:r>
              <a:t>=\begin{bmatrix}5\\2.8\end{bmatrix}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结果是车体位于 `(5, 2.8)` m，yaw 为 90°。减去的安装偏移需要先转到世界轴向，因此这次变化落在 y 分量上。若继续沿世界 x 减去 0.2 m，就会把车体系的安装方向和世界系混在一起。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再考虑雷达安装时额外转了 90°，即雷达正 x 指向车体正 y，而安装位置仍为车体前方 0.2 m。对于相同的雷达世界位姿，车体 yaw 就是 0°，车体位置为 `(4.8, 3)` m。这个比较说明，安装朝向会同时参与车体朝向和位置的计算。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这两个结果都只讨论平面分量。沿用完整三维安装高度、并假定其余角度为零时，还需要按同一关系处理 z。例如雷达高度为 0.3 m，车体参考原点的高度就为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配图建议：在同一俯视图中画出 W、B、L 三组坐标轴，标出雷达定位结果和车体到雷达的 0.2 m 偏移。第二张图只改变安装朝向，让学生比较恢复的车体位姿。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配图来源：ImageGen 生成的定位教学示意图，距离按文字标注理解。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4 一个转过九十度的小车例子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回到第一讲的教学小车。雷达在车体前方 0.2 m、上方 0.3 m，雷达轴向与车体一致。先只看俯视图，平面安装参数为位置 `(0.2, 0)`、角度 `0`。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设定位程序给出雷达的世界坐标为 `(5, 3)` m，雷达正 x 相对世界正 x 旋转了 90°。因为安装轴向一致，车体也朝向世界正 y。车体到雷达的前向 0.2 m，此时在世界系中沿正 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因此，车体原点在世界系中的位置为：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\boldsymbol p^W_B</a:t>
            </a:r>
          </a:p>
          <a:p xmlns:a="http://schemas.openxmlformats.org/drawingml/2006/main">
            <a:r>
              <a:t>=\begin{bmatrix}5\\3\end{bmatrix}</a:t>
            </a:r>
          </a:p>
          <a:p xmlns:a="http://schemas.openxmlformats.org/drawingml/2006/main">
            <a:r>
              <a:t>-R_z(\pi/2)\begin{bmatrix}0.2\\0\end{bmatrix}</a:t>
            </a:r>
          </a:p>
          <a:p xmlns:a="http://schemas.openxmlformats.org/drawingml/2006/main">
            <a:r>
              <a:t>=\begin{bmatrix}5\\2.8\end{bmatrix}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结果是车体位于 `(5, 2.8)` m，yaw 为 90°。减去的安装偏移需要先转到世界轴向，因此这次变化落在 y 分量上。若继续沿世界 x 减去 0.2 m，就会把车体系的安装方向和世界系混在一起。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再考虑雷达安装时额外转了 90°，即雷达正 x 指向车体正 y，而安装位置仍为车体前方 0.2 m。对于相同的雷达世界位姿，车体 yaw 就是 0°，车体位置为 `(4.8, 3)` m。这个比较说明，安装朝向会同时参与车体朝向和位置的计算。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这两个结果都只讨论平面分量。沿用完整三维安装高度、并假定其余角度为零时，还需要按同一关系处理 z。例如雷达高度为 0.3 m，车体参考原点的高度就为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配图建议：在同一俯视图中画出 W、B、L 三组坐标轴，标出雷达定位结果和车体到雷达的 0.2 m 偏移。第二张图只改变安装朝向，让学生比较恢复的车体位姿。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5 tf2 在这个问题中承担什么工作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激光定位算法根据测量与地图估计雷达位姿，URDF 或标定提供装配关系，tf2 管理和使用这些已知变换。变换的组合、求逆、缓存与按时间查询，都可以通过 tf2 相关接口完成。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tf2 收到的是带帧名和时间戳的坐标关系。它可以沿连通路径取得两个参考系之间的变换，也可以把关系反向使用。名称本身不包含安装尺寸，程序需要先有模型、标定或定位计算提供数值。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数学上列出多份已知关系，用于推导和核对。发布到 TF 时，还要让每个子帧保持明确的父帧和发布来源。这个定位例子可以采用下面的分工：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关系或数据 | 来源与用途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雷达在世界系中的位姿消息 | 定位程序提供，作为车体位姿换算的输入 |</a:t>
            </a:r>
          </a:p>
          <a:p xmlns:a="http://schemas.openxmlformats.org/drawingml/2006/main">
            <a:r>
              <a:t>| `base_link` 到 `lidar_link` | robot_state_publisher 根据固定 joint 提供 |</a:t>
            </a:r>
          </a:p>
          <a:p xmlns:a="http://schemas.openxmlformats.org/drawingml/2006/main">
            <a:r>
              <a:t>| 世界系到 `base_link` | 换算节点输出，交给 TF 或其他应用使用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这样，雷达定位结果先作为输入消息使用，TF 中保留世界系、车体和雷达的连通关系。如果实际系统已经通过 `map`、`odom` 和 `base_link` 建立定位链，就沿该系统的分工接入，避免让同一子帧同时出现冲突的父关系。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6 从平面例子扩展到六个自由度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刚才的俯视图只用了 x、y 和 yaw。小车经过斜坡时，还会出现高度变化、俯仰和滚转。雷达自身也可能带有倾斜安装角，平面描述就需要扩展到三维。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自由刚体在三维空间中有六个自由度：沿三个方向的平移，以及三个独立的旋转变化。位置常用 x、y、z 表达，姿态可以用 roll、pitch、yaw 表达，合起来构成位姿。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从平面运动扩展时，可以先观察车体的三种姿态变化：转弯时改变偏航，经过坡面时出现俯仰，侧倾时出现滚转。下一节再给这三种变化配上轴名和明确的旋转顺序。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自由度描述允许独立变化的数量。三维位姿使用完整的平移和旋转表示，具体机构仍然受到约束。例如固定安装的雷达相对于车体没有可动自由度，单个车轮关节则主要允许绕轮轴转动。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7 欧拉角先规定绕什么轴、按什么顺序转动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前面用一个 yaw 表达平面小车的朝向。进入三维后，可以用三个按约定顺序排列的旋转角表达姿态，这类表示称为欧拉角。本课使用的 roll、pitch、yaw 属于其中一种常见约定，简称 RPY。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先明确坐标系。世界系 W 用作外部参考，车体系 B 随小车一起移动和转动。平移决定两个原点的相对位置，旋转决定两组坐标轴的相对方向。两个原点可以重合，轴向仍然不同，因此位置和姿态需要分别描述。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ROS 常用右手系。右手拇指指向坐标轴正方向，其余手指弯曲的方向表示正旋转。本课保持 x 向前、y 向左、z 向上的约定，RPY 的轴名对应关系为：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参数 | 中文名称 | 对应轴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roll，记为 φ | 滚转 | x |</a:t>
            </a:r>
          </a:p>
          <a:p xmlns:a="http://schemas.openxmlformats.org/drawingml/2006/main">
            <a:r>
              <a:t>| pitch，记为 θ | 俯仰 | y |</a:t>
            </a:r>
          </a:p>
          <a:p xmlns:a="http://schemas.openxmlformats.org/drawingml/2006/main">
            <a:r>
              <a:t>| yaw，记为 ψ | 偏航 | z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接着确定旋转顺序。本课采用固定轴 XYZ 约定，依次绕参考系固定的 x、y、z 轴转动。用列向量计算时，矩阵从右向左作用：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R(\phi,\theta,\psi)=R_z(\psi)R_y(\theta)R_x(\phi)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例如先绕固定 x 转过 φ，物体的轴向已经改变，但下一次仍绕参考系固定的 y 轴转过 θ。最后再绕固定 z 轴转过 ψ，就得到最终姿态。URDF 的 `origin rpy` 和 tf2 的 `setRPY(roll, pitch, yaw)` 都按相应的固定轴 RPY 约定解释。[ROS Noetic 的 Quaternion 实现](https://github.com/ros/geometry2/blob/noetic-devel/tf2/include/tf2/LinearMath/Quaternion.h)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也可以使用随体轴描述同一个结果：先绕自身 z 轴转 ψ，再绕更新后的自身 y 轴转 θ，最后绕更新后的自身 x 轴转 φ。固定轴 XYZ 与随体轴 ZYX 在这组角度对应下得到相同旋转。阅读其他教程或动画时，需要同时核对参考轴、顺序和角度名称。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旋转顺序会影响结果。取一根初始指向正 y 的方向，先绕固定 x 转 90°，它变为正 z，再绕固定 z 转 90°仍为正 z。交换两步后，它先变为负 x，再绕固定 x 转动仍为负 x。两个结果不同，因此三个角度需要配合顺序才能表达完整含义。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这一组角度描述最终姿态，物体在现实中可以沿其他路径到达相同姿态。接下来讨论的万向节锁，也要从参数怎样表示最终姿态来理解。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7 欧拉角先规定绕什么轴、按什么顺序转动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前面用一个 yaw 表达平面小车的朝向。进入三维后，可以用三个按约定顺序排列的旋转角表达姿态，这类表示称为欧拉角。本课使用的 roll、pitch、yaw 属于其中一种常见约定，简称 RPY。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先明确坐标系。世界系 W 用作外部参考，车体系 B 随小车一起移动和转动。平移决定两个原点的相对位置，旋转决定两组坐标轴的相对方向。两个原点可以重合，轴向仍然不同，因此位置和姿态需要分别描述。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ROS 常用右手系。右手拇指指向坐标轴正方向，其余手指弯曲的方向表示正旋转。本课保持 x 向前、y 向左、z 向上的约定，RPY 的轴名对应关系为：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参数 | 中文名称 | 对应轴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roll，记为 φ | 滚转 | x |</a:t>
            </a:r>
          </a:p>
          <a:p xmlns:a="http://schemas.openxmlformats.org/drawingml/2006/main">
            <a:r>
              <a:t>| pitch，记为 θ | 俯仰 | y |</a:t>
            </a:r>
          </a:p>
          <a:p xmlns:a="http://schemas.openxmlformats.org/drawingml/2006/main">
            <a:r>
              <a:t>| yaw，记为 ψ | 偏航 | z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接着确定旋转顺序。本课采用固定轴 XYZ 约定，依次绕参考系固定的 x、y、z 轴转动。用列向量计算时，矩阵从右向左作用：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R(\phi,\theta,\psi)=R_z(\psi)R_y(\theta)R_x(\phi)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例如先绕固定 x 转过 φ，物体的轴向已经改变，但下一次仍绕参考系固定的 y 轴转过 θ。最后再绕固定 z 轴转过 ψ，就得到最终姿态。URDF 的 `origin rpy` 和 tf2 的 `setRPY(roll, pitch, yaw)` 都按相应的固定轴 RPY 约定解释。[ROS Noetic 的 Quaternion 实现](https://github.com/ros/geometry2/blob/noetic-devel/tf2/include/tf2/LinearMath/Quaternion.h)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也可以使用随体轴描述同一个结果：先绕自身 z 轴转 ψ，再绕更新后的自身 y 轴转 θ，最后绕更新后的自身 x 轴转 φ。固定轴 XYZ 与随体轴 ZYX 在这组角度对应下得到相同旋转。阅读其他教程或动画时，需要同时核对参考轴、顺序和角度名称。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旋转顺序会影响结果。取一根初始指向正 y 的方向，先绕固定 x 转 90°，它变为正 z，再绕固定 z 转 90°仍为正 z。交换两步后，它先变为负 x，再绕固定 x 转动仍为负 x。两个结果不同，因此三个角度需要配合顺序才能表达完整含义。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这一组角度描述最终姿态，物体在现实中可以沿其他路径到达相同姿态。接下来讨论的万向节锁，也要从参数怎样表示最终姿态来理解。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8 万向节锁发生在姿态参数的表达中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普通位置下，小幅调整 roll、pitch、yaw，可以产生三个独立的局部姿态变化。但是在上述约定中，当 pitch 等于正或负 90°时，roll 与 yaw 的作用出现相关，两者无法继续作为独立的局部姿态参数使用。这就是欧拉角表示的万向节锁。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先看数学上发生了什么。将 pitch 固定为 90°，原来的三个角就满足：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R_z(\psi)R_y(\pi/2)R_x(\phi)</a:t>
            </a:r>
          </a:p>
          <a:p xmlns:a="http://schemas.openxmlformats.org/drawingml/2006/main">
            <a:r>
              <a:t>=R_y(\pi/2)R_x(\phi-\psi)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右侧只依赖 roll 与 yaw 的差。如果给两者同时增加相同角度，这个差保持不变，最终姿态也保持不变。具体来说，下面两组角度得到相同旋转：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(\phi,\theta,\psi)=(0,\pi/2,0)</a:t>
            </a:r>
          </a:p>
          <a:p xmlns:a="http://schemas.openxmlformats.org/drawingml/2006/main">
            <a:r>
              <a:t>\quad\text{与}\quad</a:t>
            </a:r>
          </a:p>
          <a:p xmlns:a="http://schemas.openxmlformats.org/drawingml/2006/main">
            <a:r>
              <a:t>(\pi/6,\pi/2,\pi/6)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因此，给出某个姿态后，无法在这个位置唯一地分别确定 roll 与 yaw。接近这个姿态时，物体的运动可能很平滑，反解出的角度却可能变化很大。直接对欧拉角分量做插值、差分或误差计算时，就需要关注这类情况。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万向架动画能帮助理解参数作用为什么会重合。三层环分别控制一项旋转，中间环转到特殊位置后，内外两项旋转沿同一轴线作用。两个控制量的效果出现重复，三个角对局部姿态变化的描述能力随之降低。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这里需要区分两组轴。车体坐标系自身的 x、y、z 三根轴始终互相垂直。动画中讨论的重合，涉及各层转动轴，数学上对应各角参数在当前姿态附近引起的瞬时旋转方向。自由刚体仍然能够在三维空间中改变姿态，这套欧拉角参数在特殊位置失去了独立性。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演示顺序：打开 [Gimbal Lock Demonstration](https://dmccreary.github.io/linear-algebra/sims/gimbal-lock-demo/)或[全屏演示](https://dmccreary.github.io/linear-algebra/sims/gimbal-lock-demo/main.html)，先观察一般位置下的三层环，再把 pitch 调到 90°，分别改变 yaw 和 roll，观察两者的转轴关系。随后回到上面的“只依赖角度差”公式，比较两组等价角度。</a:t>
            </a:r>
          </a:p>
          <a:p xmlns:a="http://schemas.openxmlformats.org/drawingml/2006/main">
            <a:r>
              <a:t>&gt;</a:t>
            </a:r>
          </a:p>
          <a:p xmlns:a="http://schemas.openxmlformats.org/drawingml/2006/main">
            <a:r>
              <a:t>&gt; 视频补充为 GuerrillaCG 的 [Euler (gimbal lock) Explained](https://www.youtube.com/watch?v=zc8b2Jo7mno)。素材采用的轴名和旋转顺序按其说明读取。本课严格奇异点为 pitch 等于正或负 90°，接近时的预警与严格奇异点分别理解。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机械万向架还受到实际转轴和限位约束。我们接下来引入四元数，关注计算中怎样表示和组合旋转，使姿态可以平滑经过这些欧拉角的特殊位置。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8 万向节锁发生在姿态参数的表达中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普通位置下，小幅调整 roll、pitch、yaw，可以产生三个独立的局部姿态变化。但是在上述约定中，当 pitch 等于正或负 90°时，roll 与 yaw 的作用出现相关，两者无法继续作为独立的局部姿态参数使用。这就是欧拉角表示的万向节锁。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先看数学上发生了什么。将 pitch 固定为 90°，原来的三个角就满足：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R_z(\psi)R_y(\pi/2)R_x(\phi)</a:t>
            </a:r>
          </a:p>
          <a:p xmlns:a="http://schemas.openxmlformats.org/drawingml/2006/main">
            <a:r>
              <a:t>=R_y(\pi/2)R_x(\phi-\psi)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右侧只依赖 roll 与 yaw 的差。如果给两者同时增加相同角度，这个差保持不变，最终姿态也保持不变。具体来说，下面两组角度得到相同旋转：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(\phi,\theta,\psi)=(0,\pi/2,0)</a:t>
            </a:r>
          </a:p>
          <a:p xmlns:a="http://schemas.openxmlformats.org/drawingml/2006/main">
            <a:r>
              <a:t>\quad\text{与}\quad</a:t>
            </a:r>
          </a:p>
          <a:p xmlns:a="http://schemas.openxmlformats.org/drawingml/2006/main">
            <a:r>
              <a:t>(\pi/6,\pi/2,\pi/6)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因此，给出某个姿态后，无法在这个位置唯一地分别确定 roll 与 yaw。接近这个姿态时，物体的运动可能很平滑，反解出的角度却可能变化很大。直接对欧拉角分量做插值、差分或误差计算时，就需要关注这类情况。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万向架动画能帮助理解参数作用为什么会重合。三层环分别控制一项旋转，中间环转到特殊位置后，内外两项旋转沿同一轴线作用。两个控制量的效果出现重复，三个角对局部姿态变化的描述能力随之降低。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这里需要区分两组轴。车体坐标系自身的 x、y、z 三根轴始终互相垂直。动画中讨论的重合，涉及各层转动轴，数学上对应各角参数在当前姿态附近引起的瞬时旋转方向。自由刚体仍然能够在三维空间中改变姿态，这套欧拉角参数在特殊位置失去了独立性。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演示顺序：打开 [Gimbal Lock Demonstration](https://dmccreary.github.io/linear-algebra/sims/gimbal-lock-demo/)或[全屏演示](https://dmccreary.github.io/linear-algebra/sims/gimbal-lock-demo/main.html)，先观察一般位置下的三层环，再把 pitch 调到 90°，分别改变 yaw 和 roll，观察两者的转轴关系。随后回到上面的“只依赖角度差”公式，比较两组等价角度。</a:t>
            </a:r>
          </a:p>
          <a:p xmlns:a="http://schemas.openxmlformats.org/drawingml/2006/main">
            <a:r>
              <a:t>&gt;</a:t>
            </a:r>
          </a:p>
          <a:p xmlns:a="http://schemas.openxmlformats.org/drawingml/2006/main">
            <a:r>
              <a:t>&gt; 视频补充为 GuerrillaCG 的 [Euler (gimbal lock) Explained](https://www.youtube.com/watch?v=zc8b2Jo7mno)。素材采用的轴名和旋转顺序按其说明读取。本课严格奇异点为 pitch 等于正或负 90°，接近时的预警与严格奇异点分别理解。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机械万向架还受到实际转轴和限位约束。我们接下来引入四元数，关注计算中怎样表示和组合旋转，使姿态可以平滑经过这些欧拉角的特殊位置。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9 先用复数理解平面旋转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在给出四元数公式前，先回到熟悉的二维平面。平面中的向量 `(a, b)` 可以写成复数：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z=a+bi,\qquad i^2=-1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乘以 i 后，有：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iz=i(a+bi)=-b+ai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坐标从 `(a, b)` 变成 `(-b, a)`，恰好对应平面内逆时针转过 90°。例如正 x 方向的 `(1, 0)`，乘以 i 后得到正 y 方向的 `(0, 1)`。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若要旋转任意角度 α，可以乘以长度为一的复数：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r_\alpha=\cos\alpha+i\sin\alpha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展开乘法，结果为：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r_\alpha z</a:t>
            </a:r>
          </a:p>
          <a:p xmlns:a="http://schemas.openxmlformats.org/drawingml/2006/main">
            <a:r>
              <a:t>=(a\cos\alpha-b\sin\alpha)</a:t>
            </a:r>
          </a:p>
          <a:p xmlns:a="http://schemas.openxmlformats.org/drawingml/2006/main">
            <a:r>
              <a:t>+i(a\sin\alpha+b\cos\alpha)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两个分量与平面旋转矩阵的结果一致。由此可以看到，乘法本身能够实现旋转，复数的实部和虚部共同记录这次旋转。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三维旋转还要指定绕哪根轴转动。接下来先用轴与角描述旋转，再学习四元数怎样同时记录它们。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配图来源：https://www.cnblogs.com/HDDDDDD/p/15067619.html 复数平面旋转插图，原图 https://i.loli.net/2021/07/23/dt6MmOCk8npw1JL.png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9 先用复数理解平面旋转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在给出四元数公式前，先回到熟悉的二维平面。平面中的向量 `(a, b)` 可以写成复数：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z=a+bi,\qquad i^2=-1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乘以 i 后，有：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iz=i(a+bi)=-b+ai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坐标从 `(a, b)` 变成 `(-b, a)`，恰好对应平面内逆时针转过 90°。例如正 x 方向的 `(1, 0)`，乘以 i 后得到正 y 方向的 `(0, 1)`。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若要旋转任意角度 α，可以乘以长度为一的复数：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r_\alpha=\cos\alpha+i\sin\alpha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展开乘法，结果为：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r_\alpha z</a:t>
            </a:r>
          </a:p>
          <a:p xmlns:a="http://schemas.openxmlformats.org/drawingml/2006/main">
            <a:r>
              <a:t>=(a\cos\alpha-b\sin\alpha)</a:t>
            </a:r>
          </a:p>
          <a:p xmlns:a="http://schemas.openxmlformats.org/drawingml/2006/main">
            <a:r>
              <a:t>+i(a\sin\alpha+b\cos\alpha)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两个分量与平面旋转矩阵的结果一致。由此可以看到，乘法本身能够实现旋转，复数的实部和虚部共同记录这次旋转。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三维旋转还要指定绕哪根轴转动。接下来先用轴与角描述旋转，再学习四元数怎样同时记录它们。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10 轴角描述三维旋转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只考虑绕固定参考点的姿态变化时，任意三维旋转都可以表示为绕某一根轴转过一定角度。用单位向量 `u` 指定轴的方向，用 α 指定转角，就得到轴角表示。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例如小车原地向左转 90°，旋转轴沿正 z，取 `u=(0, 0, 1)`，转角为 `α=π/2`。若小车沿某条倾斜轴改变姿态，u 就需要同时包含几个方向的分量。u 的长度取一，因为这里关心的是轴的方向。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观察一个随车体一起转动的方向向量，可以把它分为平行于 u 和垂直于 u 的两部分。平行分量保持不变，垂直分量在对应平面内转动。这个分解把三维旋转与上一节的平面旋转联系起来。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轴角仍然需要处理自身的特殊情况。例如零角度对应恒等旋转，此时轴方向可以任意选取。我们用它建立几何理解，再把旋转写成方便组合和计算的单位四元数。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配图来源：https://www.cnblogs.com/HDDDDDD/p/15067619.html 轴角插图，原图 https://i.loli.net/2021/07/23/LK2ydIG4SDXFBpC.png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11 四元数的四个分量分别表示什么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四元数由四个实数分量构成，可以写成：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q=w+xi+yj+zk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是标量部分，`(x, y, z)` 是向量部分。i、j、k 是满足特定乘法规则的代数单位，例如 `i²=j²=k²=-1`、`ij=k`、`ji=-k`。这些规则使四元数乘法一般不能交换顺序。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用单位四元数表示绕单位轴 u 转过 α 时，各分量取为：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q=\cos\frac{\alpha}{2}</a:t>
            </a:r>
          </a:p>
          <a:p xmlns:a="http://schemas.openxmlformats.org/drawingml/2006/main">
            <a:r>
              <a:t>+\left(u_xi+u_yj+u_zk\right)\sin\frac{\alpha}{2}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也就是：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w=\cos\frac{\alpha}{2},\qquad</a:t>
            </a:r>
          </a:p>
          <a:p xmlns:a="http://schemas.openxmlformats.org/drawingml/2006/main">
            <a:r>
              <a:t>(x,y,z)=\boldsymbol u\sin\frac{\alpha}{2}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向量部分记录旋转轴方向并带有角度信息，标量部分也参与角度表示。此处的 x、y、z 都属于旋转参数，与位置向量的分量分别存储。表示完整位姿时，仍然需要额外保存平移。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由于 u 是单位向量，这四项满足：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w^2+x^2+y^2+z^2=1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四个分量带有一个单位长度约束，仍然描述三个旋转自由度。ROS 消息按 x、y、z、w 保存分量，所以数学表达中写在前面的 w，在 ROS 的常用分量排列中位于最后。接下来解释公式里的半角。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12 半角与四元数旋转公式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要让四元数作用于三维向量，先将向量 `v=(v_x,v_y,v_z)` 写成标量部分为零的纯四元数：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p=v_xi+v_yj+v_zk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用单位四元数 q 旋转这个向量，计算规则为：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p'=q\,p\,q^{-1}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结果的标量部分仍为零，向量部分就是旋转后的方向。对于单位四元数，逆等于共轭，即 `q⁻¹=w−xi−yj−zk`。这里的左右两次相乘共同完成旋转，乘法顺序需要保持一致。[tf2 的 quatRotate 实现](https://github.com/ros/geometry2/blob/noetic-devel/tf2/include/tf2/LinearMath/Quaternion.h)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先看绕正 z 轴的例子。假设构造 `q=cos β+k sin β`，让它作用于正 x 单位方向 `p=i`，展开后得到：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qiq^{-1}</a:t>
            </a:r>
          </a:p>
          <a:p xmlns:a="http://schemas.openxmlformats.org/drawingml/2006/main">
            <a:r>
              <a:t>=(\cos^2\beta-\sin^2\beta)i</a:t>
            </a:r>
          </a:p>
          <a:p xmlns:a="http://schemas.openxmlformats.org/drawingml/2006/main">
            <a:r>
              <a:t>+2\sin\beta\cos\beta\,j</a:t>
            </a:r>
          </a:p>
          <a:p xmlns:a="http://schemas.openxmlformats.org/drawingml/2006/main">
            <a:r>
              <a:t>=\cos(2\beta)i+\sin(2\beta)j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可见向量实际转过的角度是 2β。希望物理旋转角为 α 时，就应取 `β=α/2`。对任意单位轴也采用相应的半角构造，这样便得到上一节的四元数公式。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例如绕正 z 轴转 90°，按 ROS 的分量顺序有：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q=(x,y,z,w)=\left(0,0,\frac{\sqrt2}{2},\frac{\sqrt2}{2}\right)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它将方向 `(1, 0, 0)` 变为 `(0, 1, 0)`，与平面小车向左转 90°的结果一致。绕其他轴旋转时，同一条 `p'=qpq⁻¹` 规则依然适用。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11 四元数的四个分量分别表示什么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四元数由四个实数分量构成，可以写成：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q=w+xi+yj+zk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是标量部分，`(x, y, z)` 是向量部分。i、j、k 是满足特定乘法规则的代数单位，例如 `i²=j²=k²=-1`、`ij=k`、`ji=-k`。这些规则使四元数乘法一般不能交换顺序。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用单位四元数表示绕单位轴 u 转过 α 时，各分量取为：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q=\cos\frac{\alpha}{2}</a:t>
            </a:r>
          </a:p>
          <a:p xmlns:a="http://schemas.openxmlformats.org/drawingml/2006/main">
            <a:r>
              <a:t>+\left(u_xi+u_yj+u_zk\right)\sin\frac{\alpha}{2}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也就是：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w=\cos\frac{\alpha}{2},\qquad</a:t>
            </a:r>
          </a:p>
          <a:p xmlns:a="http://schemas.openxmlformats.org/drawingml/2006/main">
            <a:r>
              <a:t>(x,y,z)=\boldsymbol u\sin\frac{\alpha}{2}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向量部分记录旋转轴方向并带有角度信息，标量部分也参与角度表示。此处的 x、y、z 都属于旋转参数，与位置向量的分量分别存储。表示完整位姿时，仍然需要额外保存平移。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由于 u 是单位向量，这四项满足：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w^2+x^2+y^2+z^2=1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四个分量带有一个单位长度约束，仍然描述三个旋转自由度。ROS 消息按 x、y、z、w 保存分量，所以数学表达中写在前面的 w，在 ROS 的常用分量排列中位于最后。接下来解释公式里的半角。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12 半角与四元数旋转公式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要让四元数作用于三维向量，先将向量 `v=(v_x,v_y,v_z)` 写成标量部分为零的纯四元数：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p=v_xi+v_yj+v_zk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用单位四元数 q 旋转这个向量，计算规则为：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p'=q\,p\,q^{-1}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结果的标量部分仍为零，向量部分就是旋转后的方向。对于单位四元数，逆等于共轭，即 `q⁻¹=w−xi−yj−zk`。这里的左右两次相乘共同完成旋转，乘法顺序需要保持一致。[tf2 的 quatRotate 实现](https://github.com/ros/geometry2/blob/noetic-devel/tf2/include/tf2/LinearMath/Quaternion.h)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先看绕正 z 轴的例子。假设构造 `q=cos β+k sin β`，让它作用于正 x 单位方向 `p=i`，展开后得到：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qiq^{-1}</a:t>
            </a:r>
          </a:p>
          <a:p xmlns:a="http://schemas.openxmlformats.org/drawingml/2006/main">
            <a:r>
              <a:t>=(\cos^2\beta-\sin^2\beta)i</a:t>
            </a:r>
          </a:p>
          <a:p xmlns:a="http://schemas.openxmlformats.org/drawingml/2006/main">
            <a:r>
              <a:t>+2\sin\beta\cos\beta\,j</a:t>
            </a:r>
          </a:p>
          <a:p xmlns:a="http://schemas.openxmlformats.org/drawingml/2006/main">
            <a:r>
              <a:t>=\cos(2\beta)i+\sin(2\beta)j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可见向量实际转过的角度是 2β。希望物理旋转角为 α 时，就应取 `β=α/2`。对任意单位轴也采用相应的半角构造，这样便得到上一节的四元数公式。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例如绕正 z 轴转 90°，按 ROS 的分量顺序有：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q=(x,y,z,w)=\left(0,0,\frac{\sqrt2}{2},\frac{\sqrt2}{2}\right)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它将方向 `(1, 0, 0)` 变为 `(0, 1, 0)`，与平面小车向左转 90°的结果一致。绕其他轴旋转时，同一条 `p'=qpq⁻¹` 规则依然适用。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13 四元数怎样处理欧拉角的特殊姿态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欧拉角通过三次有顺序的轴旋转描述姿态。单位四元数直接保存整体旋转的参数，能够连续表示经过 pitch 为 90°附近的姿态变化，计算过程可以避免欧拉角在该处的参数退化。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如果把四元数重新转换成 RPY 显示，角度提取仍然面对同一套欧拉角的特殊位置。因此，程序可以使用四元数或旋转矩阵进行旋转组合，再按需要转换成便于人阅读的角度。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同一个旋转还对应 q 和 −q 两个单位四元数，因为：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(-q)p(-q)^{-1}=qpq^{-1}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所以比较旋转时，四个分量同时变号也可能表示相同姿态。插值和连续记录还需要关注这种等价性，采用合适的符号选择和旋转插值方法。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恒等旋转按 ROS 顺序写成 `(0, 0, 0, 1)`。全零四元数不能表示旋转，归一化也无法修复全零输入。数值计算中需要保证输入有效并保持单位长度，机械转轴的限位则继续由实际机构与控制处理。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14 在 ROS 中构造和传递四元数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`tf2::Quaternion` 用于旋转计算，`geometry_msgs::Quaternion` 用于消息传递。需要构造一个绕正 z 转 90°的姿态时，可以直接按轴角输入：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```cpp</a:t>
            </a:r>
          </a:p>
          <a:p xmlns:a="http://schemas.openxmlformats.org/drawingml/2006/main">
            <a:r>
              <a:t>constexpr double pi = 3.14159265358979323846;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tf2::Quaternion q;</a:t>
            </a:r>
          </a:p>
          <a:p xmlns:a="http://schemas.openxmlformats.org/drawingml/2006/main">
            <a:r>
              <a:t>q.setRotation(tf2::Vector3(0.0, 0.0, 1.0), pi / 2.0);</a:t>
            </a:r>
          </a:p>
          <a:p xmlns:a="http://schemas.openxmlformats.org/drawingml/2006/main">
            <a:r>
              <a:t>q.normalize();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geometry_msgs::Quaternion rotation = tf2::toMsg(q);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`setRotation` 接收旋转轴和物理转角，内部完成半角计算。若模型参数已经写成 RPY，也可以用 `q.setRPY(roll, pitch, yaw)` 构造同一个旋转。传入的角度都采用弧度，π rad 等于 180°。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四元数乘法用于组合旋转。在本稿的约定下，已知雷达世界姿态与安装姿态时，车体姿态满足 `q_W_B=q_W_L*q_B_L.inverse()`。完整定位例子还包含安装偏移，因此下一节将旋转与平移合在 Transform 中处理。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至此，RPY 的三个角、轴角的单位方向与转角、四元数的四个分量，都可以用来表达同一份旋转关系。它们的存储方式和计算规则各自明确，接入 tf2 时再按消息和接口要求转换。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15 三维变换的组合与求逆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现在可以用完整三维形式重新阅读前面的定位公式。刚体变换由旋转 `R` 和平移 `t` 构成，用齐次矩阵统一记录为：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{}^AT_B=</a:t>
            </a:r>
          </a:p>
          <a:p xmlns:a="http://schemas.openxmlformats.org/drawingml/2006/main">
            <a:r>
              <a:t>\begin{bmatrix}</a:t>
            </a:r>
          </a:p>
          <a:p xmlns:a="http://schemas.openxmlformats.org/drawingml/2006/main">
            <a:r>
              <a:t>{}^AR_B &amp; {}^A\boldsymbol t_B\\</a:t>
            </a:r>
          </a:p>
          <a:p xmlns:a="http://schemas.openxmlformats.org/drawingml/2006/main">
            <a:r>
              <a:t>0 &amp; 1</a:t>
            </a:r>
          </a:p>
          <a:p xmlns:a="http://schemas.openxmlformats.org/drawingml/2006/main">
            <a:r>
              <a:t>\end{bmatrix}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右上角的平移表示 B 原点在 A 中的位置，左上角的旋转表示 B 的轴向相对于 A 的方向。把点坐标扩展为 `(x, y, z, 1)` 后，就可以用这一个矩阵完成旋转和平移。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变换沿参考系连接进行组合，反向使用时需要求逆：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{}^AT_C={}^AT_B\,{}^BT_C,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({}^AT_B)^{-1}=</a:t>
            </a:r>
          </a:p>
          <a:p xmlns:a="http://schemas.openxmlformats.org/drawingml/2006/main">
            <a:r>
              <a:t>\begin{bmatrix}</a:t>
            </a:r>
          </a:p>
          <a:p xmlns:a="http://schemas.openxmlformats.org/drawingml/2006/main">
            <a:r>
              <a:t>R^T &amp; -R^T\boldsymbol t\\</a:t>
            </a:r>
          </a:p>
          <a:p xmlns:a="http://schemas.openxmlformats.org/drawingml/2006/main">
            <a:r>
              <a:t>0 &amp; 1</a:t>
            </a:r>
          </a:p>
          <a:p xmlns:a="http://schemas.openxmlformats.org/drawingml/2006/main">
            <a:r>
              <a:t>\end{bmatrix}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逆旋转为转置 `Rᵀ`，逆变换的平移为 `−Rᵀt`。这解释了前面数值例子中为什么要先处理安装偏移的方向，再计算车体世界位置。[Noetic Transform 实现](https://github.com/ros/geometry2/blob/noetic-devel/tf2/include/tf2/LinearMath/Transform.h)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雷达安装存在滚转、俯仰或偏航时，仍然使用同一个关系 ${}^WT_B={}^WT_L({}^BT_L)^{-1}$。区别在于平面旋转扩展为完整三维旋转，位置也增加 z 分量。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15 三维变换的组合与求逆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现在可以用完整三维形式重新阅读前面的定位公式。刚体变换由旋转 `R` 和平移 `t` 构成，用齐次矩阵统一记录为：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{}^AT_B=</a:t>
            </a:r>
          </a:p>
          <a:p xmlns:a="http://schemas.openxmlformats.org/drawingml/2006/main">
            <a:r>
              <a:t>\begin{bmatrix}</a:t>
            </a:r>
          </a:p>
          <a:p xmlns:a="http://schemas.openxmlformats.org/drawingml/2006/main">
            <a:r>
              <a:t>{}^AR_B &amp; {}^A\boldsymbol t_B\\</a:t>
            </a:r>
          </a:p>
          <a:p xmlns:a="http://schemas.openxmlformats.org/drawingml/2006/main">
            <a:r>
              <a:t>0 &amp; 1</a:t>
            </a:r>
          </a:p>
          <a:p xmlns:a="http://schemas.openxmlformats.org/drawingml/2006/main">
            <a:r>
              <a:t>\end{bmatrix}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右上角的平移表示 B 原点在 A 中的位置，左上角的旋转表示 B 的轴向相对于 A 的方向。把点坐标扩展为 `(x, y, z, 1)` 后，就可以用这一个矩阵完成旋转和平移。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变换沿参考系连接进行组合，反向使用时需要求逆：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>{}^AT_C={}^AT_B\,{}^BT_C,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({}^AT_B)^{-1}=</a:t>
            </a:r>
          </a:p>
          <a:p xmlns:a="http://schemas.openxmlformats.org/drawingml/2006/main">
            <a:r>
              <a:t>\begin{bmatrix}</a:t>
            </a:r>
          </a:p>
          <a:p xmlns:a="http://schemas.openxmlformats.org/drawingml/2006/main">
            <a:r>
              <a:t>R^T &amp; -R^T\boldsymbol t\\</a:t>
            </a:r>
          </a:p>
          <a:p xmlns:a="http://schemas.openxmlformats.org/drawingml/2006/main">
            <a:r>
              <a:t>0 &amp; 1</a:t>
            </a:r>
          </a:p>
          <a:p xmlns:a="http://schemas.openxmlformats.org/drawingml/2006/main">
            <a:r>
              <a:t>\end{bmatrix}</a:t>
            </a:r>
          </a:p>
          <a:p xmlns:a="http://schemas.openxmlformats.org/drawingml/2006/main">
            <a:r>
              <a:t>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逆旋转为转置 `Rᵀ`，逆变换的平移为 `−Rᵀt`。这解释了前面数值例子中为什么要先处理安装偏移的方向，再计算车体世界位置。[Noetic Transform 实现](https://github.com/ros/geometry2/blob/noetic-devel/tf2/include/tf2/LinearMath/Transform.h)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雷达安装存在滚转、俯仰或偏航时，仍然使用同一个关系 ${}^WT_B={}^WT_L({}^BT_L)^{-1}$。区别在于平面旋转扩展为完整三维旋转，位置也增加 z 分量。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16 用 tf2 恢复车体在世界系中的位姿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ROS 中，`geometry_msgs::PoseStamped` 用于携带位置、四元数姿态、参考系和时间戳。假设 `lidar_pose` 表示雷达在 `map` 中的完整位姿，Buffer 已经持续接收模型发布的安装变换，就可以按下面的核心步骤换算。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```cpp</a:t>
            </a:r>
          </a:p>
          <a:p xmlns:a="http://schemas.openxmlformats.org/drawingml/2006/main">
            <a:r>
              <a:t>auto mount = buffer.lookupTransform(</a:t>
            </a:r>
          </a:p>
          <a:p xmlns:a="http://schemas.openxmlformats.org/drawingml/2006/main">
            <a:r>
              <a:t>    "base_link", "lidar_link",</a:t>
            </a:r>
          </a:p>
          <a:p xmlns:a="http://schemas.openxmlformats.org/drawingml/2006/main">
            <a:r>
              <a:t>    lidar_pose.header.stamp, ros::Duration(0.1));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tf2::Transform T_W_L;</a:t>
            </a:r>
          </a:p>
          <a:p xmlns:a="http://schemas.openxmlformats.org/drawingml/2006/main">
            <a:r>
              <a:t>tf2::Transform T_B_L;</a:t>
            </a:r>
          </a:p>
          <a:p xmlns:a="http://schemas.openxmlformats.org/drawingml/2006/main">
            <a:r>
              <a:t>tf2::fromMsg(lidar_pose.pose, T_W_L);</a:t>
            </a:r>
          </a:p>
          <a:p xmlns:a="http://schemas.openxmlformats.org/drawingml/2006/main">
            <a:r>
              <a:t>tf2::fromMsg(mount.transform, T_B_L);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 tf2::Transform T_W_B = T_W_L * T_B_L.inverse();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geometry_msgs::PoseStamped base_pose;</a:t>
            </a:r>
          </a:p>
          <a:p xmlns:a="http://schemas.openxmlformats.org/drawingml/2006/main">
            <a:r>
              <a:t>base_pose.header = lidar_pose.header;</a:t>
            </a:r>
          </a:p>
          <a:p xmlns:a="http://schemas.openxmlformats.org/drawingml/2006/main">
            <a:r>
              <a:t>base_pose.pose.position.x = T_W_B.getOrigin().x();</a:t>
            </a:r>
          </a:p>
          <a:p xmlns:a="http://schemas.openxmlformats.org/drawingml/2006/main">
            <a:r>
              <a:t>base_pose.pose.position.y = T_W_B.getOrigin().y();</a:t>
            </a:r>
          </a:p>
          <a:p xmlns:a="http://schemas.openxmlformats.org/drawingml/2006/main">
            <a:r>
              <a:t>base_pose.pose.position.z = T_W_B.getOrigin().z();</a:t>
            </a:r>
          </a:p>
          <a:p xmlns:a="http://schemas.openxmlformats.org/drawingml/2006/main">
            <a:r>
              <a:t>base_pose.pose.orientation = tf2::toMsg(T_W_B.getRotation());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`lookupTransform(target, source, time, timeout)` 取 `base_link` 为 target、`lidar_link` 为 source，因此得到 ${}^BT_L$。随后显式求逆并组合，得到车体在世界系中的位姿。输出沿用输入的参考系和采集时间。[Buffer 查询接口](https://github.com/ros/geometry2/blob/noetic-devel/tf2_ros/include/tf2_ros/buffer.h)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这个片段放在节点已有的处理函数中使用，需要包含 tf2、tf2_ros 和 tf2_geometry_msgs 对应头文件。输入雷达位姿应明确描述雷达帧，四元数需要有效。Buffer 与 Listener 随节点持续存活，查询异常由调用处处理，查询失败时应跳过这次换算。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输出消息表示车体位姿。系统若需要把它加入 TF，可按已有发布分工填写 `header.frame_id` 为世界参考系、`child_frame_id` 为 `base_link`，再通过 broadcaster 发布。仅在消息上更改 frame_id，坐标数值不会自动完成换算。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16 用 tf2 恢复车体在世界系中的位姿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ROS 中，`geometry_msgs::PoseStamped` 用于携带位置、四元数姿态、参考系和时间戳。假设 `lidar_pose` 表示雷达在 `map` 中的完整位姿，Buffer 已经持续接收模型发布的安装变换，就可以按下面的核心步骤换算。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```cpp</a:t>
            </a:r>
          </a:p>
          <a:p xmlns:a="http://schemas.openxmlformats.org/drawingml/2006/main">
            <a:r>
              <a:t>auto mount = buffer.lookupTransform(</a:t>
            </a:r>
          </a:p>
          <a:p xmlns:a="http://schemas.openxmlformats.org/drawingml/2006/main">
            <a:r>
              <a:t>    "base_link", "lidar_link",</a:t>
            </a:r>
          </a:p>
          <a:p xmlns:a="http://schemas.openxmlformats.org/drawingml/2006/main">
            <a:r>
              <a:t>    lidar_pose.header.stamp, ros::Duration(0.1));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tf2::Transform T_W_L;</a:t>
            </a:r>
          </a:p>
          <a:p xmlns:a="http://schemas.openxmlformats.org/drawingml/2006/main">
            <a:r>
              <a:t>tf2::Transform T_B_L;</a:t>
            </a:r>
          </a:p>
          <a:p xmlns:a="http://schemas.openxmlformats.org/drawingml/2006/main">
            <a:r>
              <a:t>tf2::fromMsg(lidar_pose.pose, T_W_L);</a:t>
            </a:r>
          </a:p>
          <a:p xmlns:a="http://schemas.openxmlformats.org/drawingml/2006/main">
            <a:r>
              <a:t>tf2::fromMsg(mount.transform, T_B_L);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 tf2::Transform T_W_B = T_W_L * T_B_L.inverse();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geometry_msgs::PoseStamped base_pose;</a:t>
            </a:r>
          </a:p>
          <a:p xmlns:a="http://schemas.openxmlformats.org/drawingml/2006/main">
            <a:r>
              <a:t>base_pose.header = lidar_pose.header;</a:t>
            </a:r>
          </a:p>
          <a:p xmlns:a="http://schemas.openxmlformats.org/drawingml/2006/main">
            <a:r>
              <a:t>base_pose.pose.position.x = T_W_B.getOrigin().x();</a:t>
            </a:r>
          </a:p>
          <a:p xmlns:a="http://schemas.openxmlformats.org/drawingml/2006/main">
            <a:r>
              <a:t>base_pose.pose.position.y = T_W_B.getOrigin().y();</a:t>
            </a:r>
          </a:p>
          <a:p xmlns:a="http://schemas.openxmlformats.org/drawingml/2006/main">
            <a:r>
              <a:t>base_pose.pose.position.z = T_W_B.getOrigin().z();</a:t>
            </a:r>
          </a:p>
          <a:p xmlns:a="http://schemas.openxmlformats.org/drawingml/2006/main">
            <a:r>
              <a:t>base_pose.pose.orientation = tf2::toMsg(T_W_B.getRotation());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`lookupTransform(target, source, time, timeout)` 取 `base_link` 为 target、`lidar_link` 为 source，因此得到 ${}^BT_L$。随后显式求逆并组合，得到车体在世界系中的位姿。输出沿用输入的参考系和采集时间。[Buffer 查询接口](https://github.com/ros/geometry2/blob/noetic-devel/tf2_ros/include/tf2_ros/buffer.h)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这个片段放在节点已有的处理函数中使用，需要包含 tf2、tf2_ros 和 tf2_geometry_msgs 对应头文件。输入雷达位姿应明确描述雷达帧，四元数需要有效。Buffer 与 Listener 随节点持续存活，查询异常由调用处处理，查询失败时应跳过这次换算。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输出消息表示车体位姿。系统若需要把它加入 TF，可按已有发布分工填写 `header.frame_id` 为世界参考系、`child_frame_id` 为 `base_link`，再通过 broadcaster 发布。仅在消息上更改 frame_id，坐标数值不会自动完成换算。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17 同一套关系还能转换雷达目标点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车体位姿求出后，模型与定位关系就能连成从雷达到世界系的路径。此时还可以处理前序作业中的目标点：目标点原本属于雷达帧，程序可将它表达在车体系或世界系中。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点与位姿的物理含义需要分别确认。`PointStamped` 描述一个点，转换时需要旋转和平移。`PoseStamped` 还包括物体朝向。`Vector3Stamped` 常用于方向等按向量规律变换的量，其坐标换轴只使用旋转。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 `point_in_lidar` 是雷达帧中的点，程序要得到它在 `map` 中的坐标，就查询 target 为 `map`、source 为 `lidar_link` 的变换，再应用到这个点。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```cpp</a:t>
            </a:r>
          </a:p>
          <a:p xmlns:a="http://schemas.openxmlformats.org/drawingml/2006/main">
            <a:r>
              <a:t>auto transform = buffer.lookupTransform(</a:t>
            </a:r>
          </a:p>
          <a:p xmlns:a="http://schemas.openxmlformats.org/drawingml/2006/main">
            <a:r>
              <a:t>    "map", "lidar_link",</a:t>
            </a:r>
          </a:p>
          <a:p xmlns:a="http://schemas.openxmlformats.org/drawingml/2006/main">
            <a:r>
              <a:t>    point_in_lidar.header.stamp, ros::Duration(0.1));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geometry_msgs::PointStamped point_in_map;</a:t>
            </a:r>
          </a:p>
          <a:p xmlns:a="http://schemas.openxmlformats.org/drawingml/2006/main">
            <a:r>
              <a:t>tf2::doTransform(point_in_lidar, point_in_map, transform);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这里输入数据是点，前面定位例子的输入数据是雷达坐标系的完整位姿。两个任务使用同一套变换运算，所求对象与输入信息各自明确。[tf2_geometry_msgs 转换实现](https://github.com/ros/geometry2/blob/noetic-devel/tf2_geometry_msgs/include/tf2_geometry_msgs/tf2_geometry_msgs.h)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18 时间、查询与数据来源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位姿属于具体时刻。雷达在 t 时刻测量，定位和控制在稍后处理，换算时仍应保留 t。车体若以 1 m/s 行驶，处理延迟 0.1 s，期间就会移动约 0.1 m，混用时刻会把这段运动带入结果。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固定安装关系不随时间改变，雷达在世界系中的位姿则会随车体运动变化。`ros::Time(0)` 请求路径上最新共同可用的变换，`ros::Time::now()` 表示当前 ROS 时间。传感器数据通常按自身时间戳选择所需关系。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仿真使用 `use_sim_time` 时，消息与 TF 应采用一致的 ROS 时间来源。帧名错误、路径不连通、请求时刻超出缓存，都可能导致查询失败。timeout 给数据到达预留等待时间，缺失的安装关系或已经过期的历史还需要从对应来源处理。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最后回到完整的小车案例：URDF 描述零件与安装，关节状态补充可动部件状态，定位算法估计雷达或车体在环境中的位姿，tf2 按参考系和时间组织这些结果。先明确已知数据、所求对象与变换方向，再选择合适的消息和接口，公式与程序就能相互核对。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配图来源：ImageGen 生成的采集时刻教学示意图，距离按文字标注理解。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18 时间、查询与数据来源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位姿属于具体时刻。雷达在 t 时刻测量，定位和控制在稍后处理，换算时仍应保留 t。车体若以 1 m/s 行驶，处理延迟 0.1 s，期间就会移动约 0.1 m，混用时刻会把这段运动带入结果。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固定安装关系不随时间改变，雷达在世界系中的位姿则会随车体运动变化。`ros::Time(0)` 请求路径上最新共同可用的变换，`ros::Time::now()` 表示当前 ROS 时间。传感器数据通常按自身时间戳选择所需关系。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仿真使用 `use_sim_time` 时，消息与 TF 应采用一致的 ROS 时间来源。帧名错误、路径不连通、请求时刻超出缓存，都可能导致查询失败。timeout 给数据到达预留等待时间，缺失的安装关系或已经过期的历史还需要从对应来源处理。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最后回到完整的小车案例：URDF 描述零件与安装，关节状态补充可动部件状态，定位算法估计雷达或车体在环境中的位姿，tf2 按参考系和时间组织这些结果。先明确已知数据、所求对象与变换方向，再选择合适的消息和接口，公式与程序就能相互核对。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讲稿：URDF与tf2课程讲稿.md，对应章节。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ubTitle"/>
          </p:nvPr>
        </p:nvSpPr>
        <p:spPr>
          <a:xfrm>
            <a:off x="324000" y="1263240"/>
            <a:ext cx="11537640" cy="3525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20968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09572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32400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body"/>
          </p:nvPr>
        </p:nvSpPr>
        <p:spPr>
          <a:xfrm>
            <a:off x="220968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body"/>
          </p:nvPr>
        </p:nvSpPr>
        <p:spPr>
          <a:xfrm>
            <a:off x="409572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324000" y="1263240"/>
            <a:ext cx="11537640" cy="3525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220968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409572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32400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body"/>
          </p:nvPr>
        </p:nvSpPr>
        <p:spPr>
          <a:xfrm>
            <a:off x="220968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 type="body"/>
          </p:nvPr>
        </p:nvSpPr>
        <p:spPr>
          <a:xfrm>
            <a:off x="409572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2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360" y="152280"/>
            <a:ext cx="11897640" cy="612360"/>
            <a:chOff x="144360" y="152280"/>
            <a:chExt cx="11897640" cy="612360"/>
          </a:xfrm>
        </p:grpSpPr>
        <p:sp>
          <p:nvSpPr>
            <p:cNvPr id="16" name="CustomShape 16"/>
            <p:cNvSpPr/>
            <p:nvPr/>
          </p:nvSpPr>
          <p:spPr>
            <a:xfrm>
              <a:off x="144360" y="152280"/>
              <a:ext cx="11896200" cy="471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CustomShape 17"/>
            <p:cNvSpPr/>
            <p:nvPr/>
          </p:nvSpPr>
          <p:spPr>
            <a:xfrm>
              <a:off x="144360" y="597600"/>
              <a:ext cx="18612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CustomShape 18"/>
            <p:cNvSpPr/>
            <p:nvPr/>
          </p:nvSpPr>
          <p:spPr>
            <a:xfrm>
              <a:off x="11855160" y="597600"/>
              <a:ext cx="18684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CustomShape 19"/>
          <p:cNvSpPr/>
          <p:nvPr/>
        </p:nvSpPr>
        <p:spPr>
          <a:xfrm>
            <a:off x="1153620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20" name="CustomShape 20"/>
          <p:cNvSpPr/>
          <p:nvPr/>
        </p:nvSpPr>
        <p:spPr>
          <a:xfrm>
            <a:off x="1077912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21" name="CustomShape 21"/>
          <p:cNvSpPr/>
          <p:nvPr/>
        </p:nvSpPr>
        <p:spPr>
          <a:xfrm>
            <a:off x="330840" y="203760"/>
            <a:ext cx="1481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rial" panose="020B0604020202020204"/>
              </a:rPr>
              <a:t>DynamicX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2" name="图片 9"/>
          <p:cNvPicPr/>
          <p:nvPr/>
        </p:nvPicPr>
        <p:blipFill>
          <a:blip r:embed="rId14"/>
          <a:stretch>
            <a:fillRect/>
          </a:stretch>
        </p:blipFill>
        <p:spPr>
          <a:xfrm>
            <a:off x="317520" y="6380640"/>
            <a:ext cx="1347120" cy="315360"/>
          </a:xfrm>
          <a:prstGeom prst="rect">
            <a:avLst/>
          </a:prstGeom>
          <a:ln>
            <a:noFill/>
          </a:ln>
        </p:spPr>
      </p:pic>
      <p:pic>
        <p:nvPicPr>
          <p:cNvPr id="23" name="图片 10"/>
          <p:cNvPicPr/>
          <p:nvPr/>
        </p:nvPicPr>
        <p:blipFill>
          <a:blip r:embed="rId15"/>
          <a:stretch>
            <a:fillRect/>
          </a:stretch>
        </p:blipFill>
        <p:spPr>
          <a:xfrm>
            <a:off x="4310640" y="6359760"/>
            <a:ext cx="2180520" cy="363240"/>
          </a:xfrm>
          <a:prstGeom prst="rect">
            <a:avLst/>
          </a:prstGeom>
          <a:ln>
            <a:noFill/>
          </a:ln>
        </p:spPr>
      </p:pic>
      <p:pic>
        <p:nvPicPr>
          <p:cNvPr id="24" name="图片 12"/>
          <p:cNvPicPr/>
          <p:nvPr/>
        </p:nvPicPr>
        <p:blipFill>
          <a:blip r:embed="rId16"/>
          <a:stretch>
            <a:fillRect/>
          </a:stretch>
        </p:blipFill>
        <p:spPr>
          <a:xfrm>
            <a:off x="1812960" y="6447240"/>
            <a:ext cx="2307960" cy="191160"/>
          </a:xfrm>
          <a:prstGeom prst="rect">
            <a:avLst/>
          </a:prstGeom>
          <a:ln>
            <a:noFill/>
          </a:ln>
        </p:spPr>
      </p:pic>
      <p:pic>
        <p:nvPicPr>
          <p:cNvPr id="25" name="图片 35"/>
          <p:cNvPicPr/>
          <p:nvPr/>
        </p:nvPicPr>
        <p:blipFill>
          <a:blip r:embed="rId17"/>
          <a:stretch>
            <a:fillRect/>
          </a:stretch>
        </p:blipFill>
        <p:spPr>
          <a:xfrm>
            <a:off x="6628680" y="6380640"/>
            <a:ext cx="1856160" cy="309240"/>
          </a:xfrm>
          <a:prstGeom prst="rect">
            <a:avLst/>
          </a:prstGeom>
          <a:ln>
            <a:noFill/>
          </a:ln>
        </p:spPr>
      </p:pic>
      <p:pic>
        <p:nvPicPr>
          <p:cNvPr id="26" name="图片 37"/>
          <p:cNvPicPr/>
          <p:nvPr/>
        </p:nvPicPr>
        <p:blipFill>
          <a:blip r:embed="rId18"/>
          <a:stretch>
            <a:fillRect/>
          </a:stretch>
        </p:blipFill>
        <p:spPr>
          <a:xfrm>
            <a:off x="8494200" y="6462000"/>
            <a:ext cx="1284840" cy="213840"/>
          </a:xfrm>
          <a:prstGeom prst="rect">
            <a:avLst/>
          </a:prstGeom>
          <a:ln>
            <a:noFill/>
          </a:ln>
        </p:spPr>
      </p:pic>
      <p:sp>
        <p:nvSpPr>
          <p:cNvPr id="27" name="PlaceHolder 22"/>
          <p:cNvSpPr>
            <a:spLocks noGrp="1"/>
          </p:cNvSpPr>
          <p:nvPr>
            <p:ph type="title"/>
          </p:nvPr>
        </p:nvSpPr>
        <p:spPr>
          <a:xfrm>
            <a:off x="324000" y="4823280"/>
            <a:ext cx="11537640" cy="1013760"/>
          </a:xfrm>
          <a:prstGeom prst="rect">
            <a:avLst/>
          </a:prstGeom>
        </p:spPr>
        <p:txBody>
          <a:bodyPr lIns="144000" tIns="108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strike="noStrike" spc="-1">
                <a:solidFill>
                  <a:srgbClr val="FFFFFF"/>
                </a:solidFill>
                <a:latin typeface="Arial" panose="020B0604020202020204"/>
              </a:rPr>
              <a:t>Add title</a:t>
            </a:r>
            <a:endParaRPr lang="de-DE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23"/>
          <p:cNvSpPr>
            <a:spLocks noGrp="1"/>
          </p:cNvSpPr>
          <p:nvPr>
            <p:ph type="dt"/>
          </p:nvPr>
        </p:nvSpPr>
        <p:spPr>
          <a:xfrm>
            <a:off x="10916640" y="6308640"/>
            <a:ext cx="61164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29" name="PlaceHolder 24"/>
          <p:cNvSpPr>
            <a:spLocks noGrp="1"/>
          </p:cNvSpPr>
          <p:nvPr>
            <p:ph type="ftr"/>
          </p:nvPr>
        </p:nvSpPr>
        <p:spPr>
          <a:xfrm>
            <a:off x="9997560" y="6308640"/>
            <a:ext cx="728640" cy="459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0" name="PlaceHolder 25"/>
          <p:cNvSpPr>
            <a:spLocks noGrp="1"/>
          </p:cNvSpPr>
          <p:nvPr>
            <p:ph type="sldNum"/>
          </p:nvPr>
        </p:nvSpPr>
        <p:spPr>
          <a:xfrm>
            <a:off x="11624760" y="6308640"/>
            <a:ext cx="35496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1" name="PlaceHolder 26"/>
          <p:cNvSpPr>
            <a:spLocks noGrp="1"/>
          </p:cNvSpPr>
          <p:nvPr>
            <p:ph type="body"/>
          </p:nvPr>
        </p:nvSpPr>
        <p:spPr>
          <a:xfrm>
            <a:off x="324000" y="619200"/>
            <a:ext cx="11537640" cy="42040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Add a picture by dragging it onto the icon or by clicking on the icon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68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15"/>
          <p:cNvGrpSpPr/>
          <p:nvPr/>
        </p:nvGrpSpPr>
        <p:grpSpPr>
          <a:xfrm>
            <a:off x="144360" y="152280"/>
            <a:ext cx="11897640" cy="612360"/>
            <a:chOff x="144360" y="152280"/>
            <a:chExt cx="11897640" cy="612360"/>
          </a:xfrm>
        </p:grpSpPr>
        <p:sp>
          <p:nvSpPr>
            <p:cNvPr id="82" name="CustomShape 16"/>
            <p:cNvSpPr/>
            <p:nvPr/>
          </p:nvSpPr>
          <p:spPr>
            <a:xfrm>
              <a:off x="144360" y="152280"/>
              <a:ext cx="11896200" cy="471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3" name="CustomShape 17"/>
            <p:cNvSpPr/>
            <p:nvPr/>
          </p:nvSpPr>
          <p:spPr>
            <a:xfrm>
              <a:off x="144360" y="597600"/>
              <a:ext cx="18612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4" name="CustomShape 18"/>
            <p:cNvSpPr/>
            <p:nvPr/>
          </p:nvSpPr>
          <p:spPr>
            <a:xfrm>
              <a:off x="11855160" y="597600"/>
              <a:ext cx="18684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CustomShape 19"/>
          <p:cNvSpPr/>
          <p:nvPr/>
        </p:nvSpPr>
        <p:spPr>
          <a:xfrm>
            <a:off x="1153620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86" name="CustomShape 20"/>
          <p:cNvSpPr/>
          <p:nvPr/>
        </p:nvSpPr>
        <p:spPr>
          <a:xfrm>
            <a:off x="1077912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87" name="CustomShape 21"/>
          <p:cNvSpPr/>
          <p:nvPr/>
        </p:nvSpPr>
        <p:spPr>
          <a:xfrm>
            <a:off x="330840" y="203760"/>
            <a:ext cx="1481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rial" panose="020B0604020202020204"/>
              </a:rPr>
              <a:t>DynamicX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88" name="图片 9"/>
          <p:cNvPicPr/>
          <p:nvPr/>
        </p:nvPicPr>
        <p:blipFill>
          <a:blip r:embed="rId14"/>
          <a:stretch>
            <a:fillRect/>
          </a:stretch>
        </p:blipFill>
        <p:spPr>
          <a:xfrm>
            <a:off x="317520" y="6380640"/>
            <a:ext cx="1347120" cy="315360"/>
          </a:xfrm>
          <a:prstGeom prst="rect">
            <a:avLst/>
          </a:prstGeom>
          <a:ln>
            <a:noFill/>
          </a:ln>
        </p:spPr>
      </p:pic>
      <p:pic>
        <p:nvPicPr>
          <p:cNvPr id="89" name="图片 10"/>
          <p:cNvPicPr/>
          <p:nvPr/>
        </p:nvPicPr>
        <p:blipFill>
          <a:blip r:embed="rId15"/>
          <a:stretch>
            <a:fillRect/>
          </a:stretch>
        </p:blipFill>
        <p:spPr>
          <a:xfrm>
            <a:off x="4310640" y="6359760"/>
            <a:ext cx="2180520" cy="363240"/>
          </a:xfrm>
          <a:prstGeom prst="rect">
            <a:avLst/>
          </a:prstGeom>
          <a:ln>
            <a:noFill/>
          </a:ln>
        </p:spPr>
      </p:pic>
      <p:pic>
        <p:nvPicPr>
          <p:cNvPr id="90" name="图片 12"/>
          <p:cNvPicPr/>
          <p:nvPr/>
        </p:nvPicPr>
        <p:blipFill>
          <a:blip r:embed="rId16"/>
          <a:stretch>
            <a:fillRect/>
          </a:stretch>
        </p:blipFill>
        <p:spPr>
          <a:xfrm>
            <a:off x="1812960" y="6447240"/>
            <a:ext cx="2307960" cy="191160"/>
          </a:xfrm>
          <a:prstGeom prst="rect">
            <a:avLst/>
          </a:prstGeom>
          <a:ln>
            <a:noFill/>
          </a:ln>
        </p:spPr>
      </p:pic>
      <p:pic>
        <p:nvPicPr>
          <p:cNvPr id="91" name="图片 35"/>
          <p:cNvPicPr/>
          <p:nvPr/>
        </p:nvPicPr>
        <p:blipFill>
          <a:blip r:embed="rId17"/>
          <a:stretch>
            <a:fillRect/>
          </a:stretch>
        </p:blipFill>
        <p:spPr>
          <a:xfrm>
            <a:off x="6628680" y="6380640"/>
            <a:ext cx="1856160" cy="309240"/>
          </a:xfrm>
          <a:prstGeom prst="rect">
            <a:avLst/>
          </a:prstGeom>
          <a:ln>
            <a:noFill/>
          </a:ln>
        </p:spPr>
      </p:pic>
      <p:pic>
        <p:nvPicPr>
          <p:cNvPr id="92" name="图片 37"/>
          <p:cNvPicPr/>
          <p:nvPr/>
        </p:nvPicPr>
        <p:blipFill>
          <a:blip r:embed="rId18"/>
          <a:stretch>
            <a:fillRect/>
          </a:stretch>
        </p:blipFill>
        <p:spPr>
          <a:xfrm>
            <a:off x="8494200" y="6462000"/>
            <a:ext cx="1284840" cy="213840"/>
          </a:xfrm>
          <a:prstGeom prst="rect">
            <a:avLst/>
          </a:prstGeom>
          <a:ln>
            <a:noFill/>
          </a:ln>
        </p:spPr>
      </p:pic>
      <p:sp>
        <p:nvSpPr>
          <p:cNvPr id="93" name="PlaceHolder 2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140400" tIns="0" rIns="0" bIns="0" anchor="ctr">
            <a:noAutofit/>
          </a:bodyPr>
          <a:lstStyle/>
          <a:p>
            <a:pPr marL="361950" indent="-361315">
              <a:lnSpc>
                <a:spcPct val="100000"/>
              </a:lnSpc>
              <a:spcBef>
                <a:spcPts val="5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First level</a:t>
            </a:r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7380" lvl="1" indent="-26479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Second level</a:t>
            </a:r>
            <a:endParaRPr lang="de-DE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94080" lvl="2" indent="-266700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8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Third level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78230" lvl="3" indent="-17716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6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Fourth level</a:t>
            </a:r>
            <a:endParaRPr lang="de-DE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4" name="PlaceHolder 23"/>
          <p:cNvSpPr>
            <a:spLocks noGrp="1"/>
          </p:cNvSpPr>
          <p:nvPr>
            <p:ph type="dt"/>
          </p:nvPr>
        </p:nvSpPr>
        <p:spPr>
          <a:xfrm>
            <a:off x="10916640" y="6308640"/>
            <a:ext cx="61164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5" name="PlaceHolder 24"/>
          <p:cNvSpPr>
            <a:spLocks noGrp="1"/>
          </p:cNvSpPr>
          <p:nvPr>
            <p:ph type="ftr"/>
          </p:nvPr>
        </p:nvSpPr>
        <p:spPr>
          <a:xfrm>
            <a:off x="9997560" y="6308640"/>
            <a:ext cx="728640" cy="459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6" name="PlaceHolder 25"/>
          <p:cNvSpPr>
            <a:spLocks noGrp="1"/>
          </p:cNvSpPr>
          <p:nvPr>
            <p:ph type="sldNum"/>
          </p:nvPr>
        </p:nvSpPr>
        <p:spPr>
          <a:xfrm>
            <a:off x="11624760" y="6308640"/>
            <a:ext cx="35496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7" name="PlaceHolder 26"/>
          <p:cNvSpPr>
            <a:spLocks noGrp="1"/>
          </p:cNvSpPr>
          <p:nvPr>
            <p:ph type="body"/>
          </p:nvPr>
        </p:nvSpPr>
        <p:spPr>
          <a:xfrm>
            <a:off x="6283800" y="2023920"/>
            <a:ext cx="5577120" cy="4212720"/>
          </a:xfrm>
          <a:prstGeom prst="rect">
            <a:avLst/>
          </a:prstGeom>
        </p:spPr>
        <p:txBody>
          <a:bodyPr lIns="140400" tIns="0" rIns="0" bIns="0" anchor="ctr">
            <a:noAutofit/>
          </a:bodyPr>
          <a:lstStyle/>
          <a:p>
            <a:pPr marL="361950" indent="-361315">
              <a:lnSpc>
                <a:spcPct val="100000"/>
              </a:lnSpc>
              <a:spcBef>
                <a:spcPts val="5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First level</a:t>
            </a:r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7380" lvl="1" indent="-26479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Second level</a:t>
            </a:r>
            <a:endParaRPr lang="de-DE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94080" lvl="2" indent="-266700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8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Third level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78230" lvl="3" indent="-17716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6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Fourth level</a:t>
            </a:r>
            <a:endParaRPr lang="de-DE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PlaceHolder 27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144000" tIns="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strike="noStrike" spc="-1">
                <a:solidFill>
                  <a:srgbClr val="000000"/>
                </a:solidFill>
                <a:latin typeface="Arial" panose="020B0604020202020204"/>
              </a:rPr>
              <a:t>Add title</a:t>
            </a:r>
            <a:endParaRPr lang="de-DE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5e3c1b1a9b9640c0"/><Relationship Type="http://schemas.openxmlformats.org/officeDocument/2006/relationships/image" Target="../media/urdf_image.png" Id="R462ff8993f314f98"/><Relationship Type="http://schemas.openxmlformats.org/officeDocument/2006/relationships/notesSlide" Target="/ppt/notesSlides/notesSlide1.xml" Id="Rc3adca68a9c944b7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d1ab957b5a174b90"/><Relationship Type="http://schemas.openxmlformats.org/officeDocument/2006/relationships/notesSlide" Target="/ppt/notesSlides/notesSlide2.xml" Id="R8ad470e815494e6d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d52e8ab8808c4c12"/><Relationship Type="http://schemas.openxmlformats.org/officeDocument/2006/relationships/notesSlide" Target="/ppt/notesSlides/notesSlide3.xml" Id="R6373b9f58c62489b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be87bae43657407e"/><Relationship Type="http://schemas.openxmlformats.org/officeDocument/2006/relationships/notesSlide" Target="/ppt/notesSlides/notesSlide4.xml" Id="Rc351ada0ac2f4d20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a278100e30c64d6f"/><Relationship Type="http://schemas.openxmlformats.org/officeDocument/2006/relationships/notesSlide" Target="/ppt/notesSlides/notesSlide5.xml" Id="Ra33a2280e3e74269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7f9450219556447d"/><Relationship Type="http://schemas.openxmlformats.org/officeDocument/2006/relationships/notesSlide" Target="/ppt/notesSlides/notesSlide6.xml" Id="R483e6db4ddf84e10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cc5cbe8c4fda417b"/><Relationship Type="http://schemas.openxmlformats.org/officeDocument/2006/relationships/image" Target="../media/urdf_image2.png" Id="Ra2c1360c00f64398"/><Relationship Type="http://schemas.openxmlformats.org/officeDocument/2006/relationships/notesSlide" Target="/ppt/notesSlides/notesSlide7.xml" Id="R7ea3ff0e87304e7e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a2936aae996c48af"/><Relationship Type="http://schemas.openxmlformats.org/officeDocument/2006/relationships/image" Target="../media/urdf_image3.png" Id="R76c6622cbfcd408f"/><Relationship Type="http://schemas.openxmlformats.org/officeDocument/2006/relationships/notesSlide" Target="/ppt/notesSlides/notesSlide8.xml" Id="Rf9bbf9c6e6304fd6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64241552010141a5"/><Relationship Type="http://schemas.openxmlformats.org/officeDocument/2006/relationships/notesSlide" Target="/ppt/notesSlides/notesSlide9.xml" Id="R2beb3b64f95245de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339e5dfd151d4dee"/><Relationship Type="http://schemas.openxmlformats.org/officeDocument/2006/relationships/image" Target="../media/urdf_image4.png" Id="Rfe47d9adb9374046"/><Relationship Type="http://schemas.openxmlformats.org/officeDocument/2006/relationships/notesSlide" Target="/ppt/notesSlides/notesSlide10.xml" Id="Rb67fb7e04eeb4bcd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27eecb3b5a87470f"/><Relationship Type="http://schemas.openxmlformats.org/officeDocument/2006/relationships/notesSlide" Target="/ppt/notesSlides/notesSlide11.xml" Id="R3f8c48f2af084003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926a77a768ae4fa5"/><Relationship Type="http://schemas.openxmlformats.org/officeDocument/2006/relationships/image" Target="../media/urdf_image5.png" Id="Re3dbdee5a76c40ab"/><Relationship Type="http://schemas.openxmlformats.org/officeDocument/2006/relationships/notesSlide" Target="/ppt/notesSlides/notesSlide12.xml" Id="R9402dc0b52df4a5f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f991137a60084777"/><Relationship Type="http://schemas.openxmlformats.org/officeDocument/2006/relationships/notesSlide" Target="/ppt/notesSlides/notesSlide13.xml" Id="Rb1a0c2c6b1bb4a1b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6e6a87452739494f"/><Relationship Type="http://schemas.openxmlformats.org/officeDocument/2006/relationships/image" Target="../media/urdf_image6.png" Id="R8bcbc263794d4ee3"/><Relationship Type="http://schemas.openxmlformats.org/officeDocument/2006/relationships/notesSlide" Target="/ppt/notesSlides/notesSlide14.xml" Id="R72f2c63690864085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a23e6b4857d6476c"/><Relationship Type="http://schemas.openxmlformats.org/officeDocument/2006/relationships/notesSlide" Target="/ppt/notesSlides/notesSlide15.xml" Id="R412a614f652e4218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cc43447761a64fe7"/><Relationship Type="http://schemas.openxmlformats.org/officeDocument/2006/relationships/image" Target="../media/urdf_image7.png" Id="R2e2fa7ead64b4fed"/><Relationship Type="http://schemas.openxmlformats.org/officeDocument/2006/relationships/notesSlide" Target="/ppt/notesSlides/notesSlide16.xml" Id="R89bbafaf2820454f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9e5786914c8749eb"/><Relationship Type="http://schemas.openxmlformats.org/officeDocument/2006/relationships/notesSlide" Target="/ppt/notesSlides/notesSlide17.xml" Id="R9c5eb29bf0bd41d0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e1c0158f8e2f4d0f"/><Relationship Type="http://schemas.openxmlformats.org/officeDocument/2006/relationships/notesSlide" Target="/ppt/notesSlides/notesSlide18.xml" Id="R7147aeb27bf345a9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b1e22b486f2a4032"/><Relationship Type="http://schemas.openxmlformats.org/officeDocument/2006/relationships/notesSlide" Target="/ppt/notesSlides/notesSlide19.xml" Id="Re8796352e82b4b7f"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638f008f5714464c"/><Relationship Type="http://schemas.openxmlformats.org/officeDocument/2006/relationships/notesSlide" Target="/ppt/notesSlides/notesSlide20.xml" Id="R451110ebcd654e59"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163ec5ca0bfa405a"/><Relationship Type="http://schemas.openxmlformats.org/officeDocument/2006/relationships/notesSlide" Target="/ppt/notesSlides/notesSlide21.xml" Id="Ra10cbe7b72814831"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48d6ce6e2d6d433d"/><Relationship Type="http://schemas.openxmlformats.org/officeDocument/2006/relationships/notesSlide" Target="/ppt/notesSlides/notesSlide22.xml" Id="R767886035f2c44a1"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5f9476dfe8624115"/><Relationship Type="http://schemas.openxmlformats.org/officeDocument/2006/relationships/notesSlide" Target="/ppt/notesSlides/notesSlide23.xml" Id="Re853371813b045b4"/><Relationship Id="rIdTeachingLink1" Type="http://schemas.openxmlformats.org/officeDocument/2006/relationships/hyperlink" Target="https://dmccreary.github.io/linear-algebra/sims/gimbal-lock-demo/main.html" TargetMode="External"/><Relationship Id="rIdTeachingLink2" Type="http://schemas.openxmlformats.org/officeDocument/2006/relationships/hyperlink" Target="https://www.youtube.com/watch?v=zc8b2Jo7mno" TargetMode="External"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141d9d85c3a043ab"/><Relationship Type="http://schemas.openxmlformats.org/officeDocument/2006/relationships/image" Target="../media/urdf_image8.png" Id="R7a096140950242e3"/><Relationship Type="http://schemas.openxmlformats.org/officeDocument/2006/relationships/notesSlide" Target="/ppt/notesSlides/notesSlide24.xml" Id="R7a24f91ed2114077"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b62201cebb9b4057"/><Relationship Type="http://schemas.openxmlformats.org/officeDocument/2006/relationships/notesSlide" Target="/ppt/notesSlides/notesSlide25.xml" Id="R87ee4b159e644479"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d5005b2c606a4a08"/><Relationship Type="http://schemas.openxmlformats.org/officeDocument/2006/relationships/image" Target="../media/urdf_image9.png" Id="R942b181385314259"/><Relationship Type="http://schemas.openxmlformats.org/officeDocument/2006/relationships/notesSlide" Target="/ppt/notesSlides/notesSlide26.xml" Id="Raf5a962553054650"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aa71976d56ef4be9"/><Relationship Type="http://schemas.openxmlformats.org/officeDocument/2006/relationships/notesSlide" Target="/ppt/notesSlides/notesSlide27.xml" Id="R447570d7a4bc448d"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ab6ca3159bc54e54"/><Relationship Type="http://schemas.openxmlformats.org/officeDocument/2006/relationships/notesSlide" Target="/ppt/notesSlides/notesSlide28.xml" Id="R9f57bf19b7fb46b6"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11b69f3965fd4023"/><Relationship Type="http://schemas.openxmlformats.org/officeDocument/2006/relationships/notesSlide" Target="/ppt/notesSlides/notesSlide29.xml" Id="Re528f3824b54449e"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c15f4097f8b84877"/><Relationship Type="http://schemas.openxmlformats.org/officeDocument/2006/relationships/notesSlide" Target="/ppt/notesSlides/notesSlide30.xml" Id="R5f431f227dfb40a1"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f2e0fe7dced84fc3"/><Relationship Type="http://schemas.openxmlformats.org/officeDocument/2006/relationships/notesSlide" Target="/ppt/notesSlides/notesSlide31.xml" Id="R27228f6286944b22"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e534db57083a43a4"/><Relationship Type="http://schemas.openxmlformats.org/officeDocument/2006/relationships/notesSlide" Target="/ppt/notesSlides/notesSlide32.xml" Id="R8931fd1e911149f6"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51af15a3879b4730"/><Relationship Type="http://schemas.openxmlformats.org/officeDocument/2006/relationships/notesSlide" Target="/ppt/notesSlides/notesSlide33.xml" Id="Rd2cf6613d4b7436e"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ee2315d866594d09"/><Relationship Type="http://schemas.openxmlformats.org/officeDocument/2006/relationships/notesSlide" Target="/ppt/notesSlides/notesSlide34.xml" Id="R621c68262cb04131"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b468825081e54b36"/><Relationship Type="http://schemas.openxmlformats.org/officeDocument/2006/relationships/notesSlide" Target="/ppt/notesSlides/notesSlide35.xml" Id="R21850ea3e0eb4146"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0332222f9c354ba5"/><Relationship Type="http://schemas.openxmlformats.org/officeDocument/2006/relationships/image" Target="../media/urdf_image10.png" Id="R1005324b475c4951"/><Relationship Type="http://schemas.openxmlformats.org/officeDocument/2006/relationships/notesSlide" Target="/ppt/notesSlides/notesSlide36.xml" Id="Rc17dc3b1089a4055"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../slideLayouts/slideLayout13.xml" Id="R8e046c32afca467b"/><Relationship Type="http://schemas.openxmlformats.org/officeDocument/2006/relationships/notesSlide" Target="/ppt/notesSlides/notesSlide37.xml" Id="R90022b64c1604b0d"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23884B-2921-466A-A043-7C4E146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URDF 与 tf2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252FEA-130B-45B0-A55A-29118369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第一讲从 XML 学习机器人描述，用简化小</a:t>
            </a:r>
            <a:br/>
            <a:r>
              <a:t>车逐步理解部件、关节和安装位姿，再回到</a:t>
            </a:r>
            <a:br/>
            <a:r>
              <a:t>SMB 工程核对模型写法。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第二讲从雷达定位恢复车体位姿，继而学习</a:t>
            </a:r>
            <a:br/>
            <a:r>
              <a:t>三维旋转、万向节锁与四元数，最后用 tf2</a:t>
            </a:r>
            <a:br/>
            <a:r>
              <a:t>完成坐标换算。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6FB19-FAD7-41BE-85E7-24B8AC069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ff8993f314f98"/>
          <a:stretch xmlns:a="http://schemas.openxmlformats.org/drawingml/2006/main"/>
        </p:blipFill>
        <p:spPr>
          <a:xfrm xmlns:a="http://schemas.openxmlformats.org/drawingml/2006/main">
            <a:off x="6638925" y="2189613"/>
            <a:ext cx="4810125" cy="34884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25724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3E0728-1C15-4D31-BAF8-C7498CB4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XML 记录机器人信息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F6AFAD-1BD7-480E-B0B7-EC42624B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URDF 用 XML 记录机器人部件、连接关系和物理属性。XML 元素由开始标签、内部内容</a:t>
            </a:r>
            <a:br/>
            <a:r>
              <a:t>和结束标签组成，属性写在开始标签上，用来给出名称或数值。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标签要正确嵌套并闭合，名称区分大小写，属性值需要引号。元素没有内部内容时可用自</a:t>
            </a:r>
            <a:br/>
            <a:r>
              <a:t>闭合标签。缩进便于阅读，实际层次由标签决定。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&lt;link name="base_link"&gt;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&lt;visual&gt;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&lt;geometry&gt;&lt;box size="0.6 0.4 0.2"/&gt;&lt;/geometry&gt;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&lt;/visual&gt;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&lt;/link&gt;</a:t>
            </a:r>
          </a:p>
        </p:txBody>
      </p:sp>
    </p:spTree>
    <p:extLst>
      <p:ext uri="{BB962C8B-B14F-4D97-AF65-F5344CB8AC3E}">
        <p14:creationId xmlns:p14="http://schemas.microsoft.com/office/powerpoint/2010/main" val="1671263922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968C9F-05BD-4807-B60E-65933715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第一个 URDF：长方体底盘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CF0C9A-78D1-4086-8A72-67749F7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完整模型由 robot 根元素包住，每个 link 表达一个刚体并提供局部坐标系。visual 内的</a:t>
            </a:r>
            <a:br/>
            <a:r>
              <a:t>geometry 指定外观，box 的尺寸按 x、y、z 排列，单位是米。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这个教学底盘长 0.6 m、宽 0.4 m、高 0.2 m。颜色由 material 描述，圆柱、球与网格模</a:t>
            </a:r>
            <a:br/>
            <a:r>
              <a:t>型可以表示其他部件。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&lt;robot name="teaching_car"&gt;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&lt;link name="base_link"&gt;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&lt;visual&gt;&lt;geometry&gt;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  &lt;box size="0.6 0.4 0.2"/&gt;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&lt;/geometry&gt;&lt;/visual&gt;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&lt;/link&gt;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&lt;/robot&gt;</a:t>
            </a:r>
          </a:p>
        </p:txBody>
      </p:sp>
    </p:spTree>
    <p:extLst>
      <p:ext uri="{BB962C8B-B14F-4D97-AF65-F5344CB8AC3E}">
        <p14:creationId xmlns:p14="http://schemas.microsoft.com/office/powerpoint/2010/main" val="1887326915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EDB2B6-2423-4015-8D76-66C5E8CA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origin 决定几何体怎样摆放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44D59C-6E84-4725-AEE2-B034122F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坐标系由原点与三根互相垂直的轴组成，具体原点由模型定义。visual origin 指定可见几</a:t>
            </a:r>
            <a:br/>
            <a:r>
              <a:t>何体相对所属 link 的摆放。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xyz 为 0 0 0.1 时，几何体沿 link 正 z 上移 0.1 m。link 坐标系仍按原定义使用，joint 内</a:t>
            </a:r>
            <a:br/>
            <a:r>
              <a:t>的 origin 则描述部件安装关系。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&lt;origin xyz="0 0 0.1" rpy="0 0 0"/&gt;</a:t>
            </a:r>
          </a:p>
        </p:txBody>
      </p:sp>
    </p:spTree>
    <p:extLst>
      <p:ext uri="{BB962C8B-B14F-4D97-AF65-F5344CB8AC3E}">
        <p14:creationId xmlns:p14="http://schemas.microsoft.com/office/powerpoint/2010/main" val="1160567213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DA9678-A6AF-41D2-86FE-C9312B2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fixed joint 安装雷达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D77012-BF86-4896-9CF6-C806AA09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fixed joint 将 lidar_link 连接到 base_link。parent 与 child 指定父子部件，origin 给出安装</a:t>
            </a:r>
            <a:br/>
            <a:r>
              <a:t>位置和方向。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示例雷达位于底盘前方 0.2 m、上方 0.3 m，轴向相同。车体移动时，雷达与车体的相对</a:t>
            </a:r>
            <a:br/>
            <a:r>
              <a:t>位姿保持固定。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&lt;joint name="base_to_lidar" type="fixed"&gt;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&lt;parent link="base_link"/&gt;&lt;child link="lidar_link"/&gt;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&lt;origin xyz="0.2 0 0.3" rpy="0 0 0"/&gt;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&lt;/joint&gt;</a:t>
            </a:r>
          </a:p>
        </p:txBody>
      </p:sp>
    </p:spTree>
    <p:extLst>
      <p:ext uri="{BB962C8B-B14F-4D97-AF65-F5344CB8AC3E}">
        <p14:creationId xmlns:p14="http://schemas.microsoft.com/office/powerpoint/2010/main" val="429034073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511535-79AA-4810-82DB-02000D46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continuous joint 描述车轮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2FCBB5-257E-402F-B85D-6DD6D0D2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continuous joint 允许车轮绕一根轴连续转动。axis 使用关节局部坐标，需结合 origin 的</a:t>
            </a:r>
            <a:br/>
            <a:r>
              <a:t>安装旋转判断轮轴在车体中的方向。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revolute 具有转角范围，prismatic 具有直线行程。关节类型规定允许运动的方式，当前角</a:t>
            </a:r>
            <a:br/>
            <a:r>
              <a:t>度或位移由状态数据提供。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&lt;joint name="left_front_wheel_joint" type="continuous"&gt;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&lt;parent link="base_link"/&gt;&lt;child link="left_front_wheel"/&gt;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&lt;origin xyz="0.2 0.24 -0.1" rpy="-1.57079632679 0 0"/&gt;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&lt;axis xyz="0 0 1"/&gt;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&lt;/joint&gt;</a:t>
            </a:r>
          </a:p>
        </p:txBody>
      </p:sp>
    </p:spTree>
    <p:extLst>
      <p:ext uri="{BB962C8B-B14F-4D97-AF65-F5344CB8AC3E}">
        <p14:creationId xmlns:p14="http://schemas.microsoft.com/office/powerpoint/2010/main" val="1488103431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D3A4EB-2CB5-4961-8770-CAD3AA0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外观、碰撞与惯性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361C79-34A3-4943-9A7A-BCB82EE9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visual 描述外观，collision 提供碰撞几何，</a:t>
            </a:r>
            <a:br/>
            <a:r>
              <a:t>inertial 记录质量、质心与转动惯量。同一部</a:t>
            </a:r>
            <a:br/>
            <a:r>
              <a:t>件可以分别采用适合显示和计算的几何细</a:t>
            </a:r>
            <a:br/>
            <a:r>
              <a:t>节。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这些元素的 origin 都相对所属 link。质量与</a:t>
            </a:r>
            <a:br/>
            <a:r>
              <a:t>惯量还需要匹配单位、质量分布和参考轴，</a:t>
            </a:r>
            <a:br/>
            <a:r>
              <a:t>图中展示通用 link 的几类局部关系。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A9B4B-2570-469C-838B-0660DAC3E4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1360c00f64398"/>
          <a:stretch xmlns:a="http://schemas.openxmlformats.org/drawingml/2006/main"/>
        </p:blipFill>
        <p:spPr>
          <a:xfrm xmlns:a="http://schemas.openxmlformats.org/drawingml/2006/main">
            <a:off x="6638925" y="2600355"/>
            <a:ext cx="4810125" cy="2666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59413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DA0A42-8E86-40E8-8CE1-0AAFEAE3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URDF 连接树与名称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305544-27E6-4F2E-8A70-2B10AA25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link 与 joint 构成一棵树，每个非根 link 只有</a:t>
            </a:r>
            <a:br/>
            <a:r>
              <a:t>一个父关节。parent 与 child 的名称引用决</a:t>
            </a:r>
            <a:br/>
            <a:r>
              <a:t>定部件连接，右图展示通用模型的连接关</a:t>
            </a:r>
            <a:br/>
            <a:r>
              <a:t>系。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link 与 joint 名称各自保持唯一。关节名还需</a:t>
            </a:r>
            <a:br/>
            <a:r>
              <a:t>要与 JointState、控制器配置一致，才能把</a:t>
            </a:r>
            <a:br/>
            <a:r>
              <a:t>状态和控制对应到具体部件。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C8CB1-D26D-413D-9418-09ECAC7FD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6622cbfcd408f"/>
          <a:stretch xmlns:a="http://schemas.openxmlformats.org/drawingml/2006/main"/>
        </p:blipFill>
        <p:spPr>
          <a:xfrm xmlns:a="http://schemas.openxmlformats.org/drawingml/2006/main">
            <a:off x="7602780" y="2143125"/>
            <a:ext cx="2882414" cy="3581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03410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92A42F-8D09-4F3C-A3C1-25099CD8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xacro 减少重复定义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F9EFBE-DC93-4373-A61F-0A1F7C0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property 保存尺寸，macro 定义重复的车轮结构，调用时再传入名称与安装位置。表达式</a:t>
            </a:r>
            <a:br/>
            <a:r>
              <a:t>可以根据车宽和轮宽计算左右安装坐标。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arg 接收展开配置，include 组织多个文件。xacro 将参数与宏展开为普通 URDF，供</a:t>
            </a:r>
            <a:br/>
            <a:r>
              <a:t>ROS 节点读取。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&lt;xacro:property name="wheel_radius" value="0.1"/&gt;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&lt;xacro:wheel name="left_front_wheel"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         x="0.2" y="${half_track}"/&gt;</a:t>
            </a:r>
          </a:p>
        </p:txBody>
      </p:sp>
    </p:spTree>
    <p:extLst>
      <p:ext uri="{BB962C8B-B14F-4D97-AF65-F5344CB8AC3E}">
        <p14:creationId xmlns:p14="http://schemas.microsoft.com/office/powerpoint/2010/main" val="1208871313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61A51D-4D04-4B5C-8CCF-79D82039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在 SMB 中识别模型字段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CA9333-974D-4A71-ADD0-3914113A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SMB 底盘尺寸为 0.605 × 0.410 × 0.197</a:t>
            </a:r>
            <a:br/>
            <a:r>
              <a:t>m。wheel 宏使用 LF、RF、LH、RH 区分四</a:t>
            </a:r>
            <a:br/>
            <a:r>
              <a:t>轮，并生成各自的 link 与 joint 名称。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雷达仿真分支调用 VLP-16 宏，非仿真分支</a:t>
            </a:r>
            <a:br/>
            <a:r>
              <a:t>直接定义 rslidar 安装关系。实际帧名与参数</a:t>
            </a:r>
            <a:br/>
            <a:r>
              <a:t>需要结合展开分支和消息头确认。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A1D61-748E-4C21-9DAC-43CF1D99F8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7d9adb9374046"/>
          <a:stretch xmlns:a="http://schemas.openxmlformats.org/drawingml/2006/main"/>
        </p:blipFill>
        <p:spPr>
          <a:xfrm xmlns:a="http://schemas.openxmlformats.org/drawingml/2006/main">
            <a:off x="6638925" y="2285528"/>
            <a:ext cx="4810125" cy="3296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6234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3A84A1-D7DD-46BE-8BEA-C6F03E29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模型描述进入 ROS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9C0161-29EC-444A-BDAD-1FB035DB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URDF 通过 robot_description 提供模型，robot_state_publisher 结合 JointState 计算各</a:t>
            </a:r>
            <a:br/>
            <a:r>
              <a:t>link 的关系。固定连接发布到 /tf_static，可动连接通过 /tf 更新。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模型描述部件怎样连接，关节状态补充当前运动位置。两者共同确定机器人内部各部件在</a:t>
            </a:r>
            <a:br/>
            <a:r>
              <a:t>某个时刻的相对位姿。</a:t>
            </a:r>
          </a:p>
        </p:txBody>
      </p:sp>
    </p:spTree>
    <p:extLst>
      <p:ext uri="{BB962C8B-B14F-4D97-AF65-F5344CB8AC3E}">
        <p14:creationId xmlns:p14="http://schemas.microsoft.com/office/powerpoint/2010/main" val="1746744171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CE5509-4D9C-413F-84E2-3E96BC18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关节状态与模型显示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C21CE5-11CF-4830-A3B8-D9665912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JointState 的 name 与 position 按项对应，header.stamp 标记状态时刻，名称需要与</a:t>
            </a:r>
            <a:br/>
            <a:r>
              <a:t>URDF 一致。状态可来自编码器、GUI 或仿真接口。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RViz 的 RobotModel 使用模型外观和 TF 显示部件。接下来利用已知雷达安装关系，计算</a:t>
            </a:r>
            <a:br/>
            <a:r>
              <a:t>车体在环境中的位姿。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4E290-0349-436D-9C28-C2DF86D440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bdee5a76c40ab"/>
          <a:stretch xmlns:a="http://schemas.openxmlformats.org/drawingml/2006/main"/>
        </p:blipFill>
        <p:spPr>
          <a:xfrm xmlns:a="http://schemas.openxmlformats.org/drawingml/2006/main">
            <a:off x="3454014" y="4000500"/>
            <a:ext cx="5283971" cy="185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9034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AF9890-AF07-41BE-9ED2-A9A797E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小车、雷达与世界坐标系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5A6C18-6A19-4F35-8950-2C0F1834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世界系 W 描述环境位置，车体系 B 随小车运动，雷达系 L 固定在传感器上。一个坐标值</a:t>
            </a:r>
            <a:br/>
            <a:r>
              <a:t>需要结合所属参考系读取。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本课代码分别用 map、base_link、lidar_link 表示三帧。ROS 常用右手系，车体 x 向</a:t>
            </a:r>
            <a:br/>
            <a:r>
              <a:t>前、y 向左、z 向上。</a:t>
            </a:r>
          </a:p>
        </p:txBody>
      </p:sp>
    </p:spTree>
    <p:extLst>
      <p:ext uri="{BB962C8B-B14F-4D97-AF65-F5344CB8AC3E}">
        <p14:creationId xmlns:p14="http://schemas.microsoft.com/office/powerpoint/2010/main" val="271245895"/>
      </p:ext>
    </p:extLst>
  </p:cSld>
</p:sld>
</file>

<file path=ppt/slides/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A1AC31-5805-47E6-98CE-F0677348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雷达点在车体系中的表达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A899B1-7211-497B-8D6C-A20FE2D9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同一点换到车体系中，需要先转换轴向，再</a:t>
            </a:r>
            <a:br/>
            <a:r>
              <a:t>加上雷达原点的安装偏移。右图用 A 表示车</a:t>
            </a:r>
            <a:br/>
            <a:r>
              <a:t>体，B 表示雷达。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雷达前移 0.2 m，正 x 指向车体正 y 时，雷</a:t>
            </a:r>
            <a:br/>
            <a:r>
              <a:t>达正 x 一米处的点换到车体中为 (0.2, 1)。图</a:t>
            </a:r>
            <a:br/>
            <a:r>
              <a:t>中距离按标注读取。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p_B = R_B_L p_L + t_B_L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140A1-CBC2-4328-AFA3-3389F4A9D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bc263794d4ee3"/>
          <a:stretch xmlns:a="http://schemas.openxmlformats.org/drawingml/2006/main"/>
        </p:blipFill>
        <p:spPr>
          <a:xfrm xmlns:a="http://schemas.openxmlformats.org/drawingml/2006/main">
            <a:off x="6656388" y="2143125"/>
            <a:ext cx="4775200" cy="3581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74744"/>
      </p:ext>
    </p:extLst>
  </p:cSld>
</p:sld>
</file>

<file path=ppt/slides/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9F6FFD-33D9-4DDB-849A-1D567728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从雷达位姿恢复车体位姿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99D90A-40D9-4B60-BA4A-1676013E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定位程序给出雷达在世界系中的完整位姿，模型或标定提供雷达相对车体的安装位姿。输</a:t>
            </a:r>
            <a:br/>
            <a:r>
              <a:t>入同时包含位置和朝向，才能恢复车体位姿。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T_A_B 表示 B 在 A 中的位姿，也把 B 中的点换到 A。连接相邻变换时，中间参考系需要</a:t>
            </a:r>
            <a:br/>
            <a:r>
              <a:t>对应。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T_W_L = T_W_B * T_B_L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T_W_B = T_W_L * T_B_L^-1</a:t>
            </a:r>
          </a:p>
        </p:txBody>
      </p:sp>
    </p:spTree>
    <p:extLst>
      <p:ext uri="{BB962C8B-B14F-4D97-AF65-F5344CB8AC3E}">
        <p14:creationId xmlns:p14="http://schemas.microsoft.com/office/powerpoint/2010/main" val="1273971256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52AAB1-B041-4E5B-AEC0-F4BE36BA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雷达定位与车体世界位置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190FBF-986A-470B-A403-2CA42BE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雷达世界位置为 (5, 3) m、朝向为 90°，且安</a:t>
            </a:r>
            <a:br/>
            <a:r>
              <a:t>装在车体前方 0.2 m，轴向与车体一致。车</a:t>
            </a:r>
            <a:br/>
            <a:r>
              <a:t>体因此朝向世界正 y。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安装偏移在世界系中沿正 y，扣除后得到车</a:t>
            </a:r>
            <a:br/>
            <a:r>
              <a:t>体位置 (5, 2.8) m。示意图按标注理解距</a:t>
            </a:r>
            <a:br/>
            <a:r>
              <a:t>离。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p_W_B = (5, 3) - Rz(π/2)(0.2, 0)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  = (5, 2.8)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5D0CA-259F-4082-81E6-DB15981AE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fa7ead64b4fed"/>
          <a:stretch xmlns:a="http://schemas.openxmlformats.org/drawingml/2006/main"/>
        </p:blipFill>
        <p:spPr>
          <a:xfrm xmlns:a="http://schemas.openxmlformats.org/drawingml/2006/main">
            <a:off x="6656388" y="2143125"/>
            <a:ext cx="4775200" cy="3581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04471"/>
      </p:ext>
    </p:extLst>
  </p:cSld>
</p:sld>
</file>

<file path=ppt/slides/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B2380D-2D83-4005-9F21-9484EC3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安装朝向改变时的车体位姿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241EFF-90ED-4AB5-8D0F-245C8D59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保持雷达世界位姿和安装位置，若雷达相对车体额外转过 90°，恢复的车体 yaw 为 0°，</a:t>
            </a:r>
            <a:br/>
            <a:r>
              <a:t>位置为 (4.8, 3) m。安装朝向也会影响位置换算。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三维计算还需处理高度。雷达世界高度为 0.3 m、安装在车体原点上方 0.3 m，且无滚转</a:t>
            </a:r>
            <a:br/>
            <a:r>
              <a:t>俯仰时，车体原点高度为 0。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p_W_B = (4.8,3), yaw_B = 0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z_W_L = 0.3, z_W_B = 0</a:t>
            </a:r>
          </a:p>
        </p:txBody>
      </p:sp>
    </p:spTree>
    <p:extLst>
      <p:ext uri="{BB962C8B-B14F-4D97-AF65-F5344CB8AC3E}">
        <p14:creationId xmlns:p14="http://schemas.microsoft.com/office/powerpoint/2010/main" val="590045776"/>
      </p:ext>
    </p:extLst>
  </p:cSld>
</p:sld>
</file>

<file path=ppt/slides/slide1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60B1AB-264F-494A-85FE-CE8F0DC4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tf2 在定位计算中的职责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12229C-327E-4514-8BC0-335AA73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定位程序估计雷达位姿，URDF 或标定提供安装关系，tf2 管理变换并支持组合、求逆和</a:t>
            </a:r>
            <a:br/>
            <a:r>
              <a:t>按时间查询。坐标数值需要由对应的数据来源提供。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每个 TF 子帧保持明确的父帧和发布来源。示例把雷达定位作为输入消息，换算后发布世</a:t>
            </a:r>
            <a:br/>
            <a:r>
              <a:t>界系到车体的关系，模型继续提供车体到雷达的关系。</a:t>
            </a:r>
          </a:p>
        </p:txBody>
      </p:sp>
    </p:spTree>
    <p:extLst>
      <p:ext uri="{BB962C8B-B14F-4D97-AF65-F5344CB8AC3E}">
        <p14:creationId xmlns:p14="http://schemas.microsoft.com/office/powerpoint/2010/main" val="696939667"/>
      </p:ext>
    </p:extLst>
  </p:cSld>
</p:sld>
</file>

<file path=ppt/slides/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4B713C-2FA6-4279-A303-F6664B1E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平面运动与六个自由度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25676C-186D-4648-BE34-90B5C504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俯视图关注 x、y 和 yaw。完整三维位姿还包含高度、滚转和俯仰，自由刚体共有三个平</a:t>
            </a:r>
            <a:br/>
            <a:r>
              <a:t>移自由度和三个旋转自由度。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小车过坡时出现高度与俯仰变化，侧倾时出现滚转。机构约束决定部件的实际运动，固定</a:t>
            </a:r>
            <a:br/>
            <a:r>
              <a:t>雷达相对车体没有可动自由度。</a:t>
            </a:r>
          </a:p>
        </p:txBody>
      </p:sp>
    </p:spTree>
    <p:extLst>
      <p:ext uri="{BB962C8B-B14F-4D97-AF65-F5344CB8AC3E}">
        <p14:creationId xmlns:p14="http://schemas.microsoft.com/office/powerpoint/2010/main" val="588068947"/>
      </p:ext>
    </p:extLst>
  </p:cSld>
</p:sld>
</file>

<file path=ppt/slides/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526E7-FB41-460F-9C23-34DA4121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RPY 的轴名与旋转矩阵顺序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CE2FC5-D4E2-440C-9241-6A123D96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本课用 roll 表示绕 x 的滚转，用 pitch 表示绕 y 的俯仰，用 yaw 表示绕 z 的偏航。姿态采</a:t>
            </a:r>
            <a:br/>
            <a:r>
              <a:t>用固定轴 XYZ 约定，按 x、y、z 顺序旋转。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列向量计算时，矩阵从右向左作用。URDF 的 origin rpy 和 tf2 的 setRPY 使用对应的固</a:t>
            </a:r>
            <a:br/>
            <a:r>
              <a:t>定轴约定，输入角度用弧度。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R(φ,θ,ψ) = Rz(ψ) Ry(θ) Rx(φ)</a:t>
            </a:r>
          </a:p>
        </p:txBody>
      </p:sp>
    </p:spTree>
    <p:extLst>
      <p:ext uri="{BB962C8B-B14F-4D97-AF65-F5344CB8AC3E}">
        <p14:creationId xmlns:p14="http://schemas.microsoft.com/office/powerpoint/2010/main" val="1615826900"/>
      </p:ext>
    </p:extLst>
  </p:cSld>
</p:sld>
</file>

<file path=ppt/slides/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202A15-8CB9-471E-9B7D-4BDD3210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固定轴与随体轴的旋转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AAE181-86A0-4D29-BE5E-55B67A24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固定轴 XYZ 始终使用参考系原来的轴。先绕固定 x 再绕固定 z，与交换次序，通常得到</a:t>
            </a:r>
            <a:br/>
            <a:r>
              <a:t>不同的最终姿态。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固定轴 XYZ 与按相应角度进行的随体轴 ZYX 可表达同一姿态。读取其他资料和动画时，</a:t>
            </a:r>
            <a:br/>
            <a:r>
              <a:t>需核对轴定义、角度名称与旋转顺序。</a:t>
            </a:r>
          </a:p>
        </p:txBody>
      </p:sp>
    </p:spTree>
    <p:extLst>
      <p:ext uri="{BB962C8B-B14F-4D97-AF65-F5344CB8AC3E}">
        <p14:creationId xmlns:p14="http://schemas.microsoft.com/office/powerpoint/2010/main" val="428672437"/>
      </p:ext>
    </p:extLst>
  </p:cSld>
</p:sld>
</file>

<file path=ppt/slides/slide2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91AF58-1A96-4256-84C1-521CBE9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万向节锁与 RPY 奇异性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740519-FDEA-4669-9F6A-31F5C3E4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pitch 等于正或负 90°时，roll 与 yaw 的作用出现相关。pitch 为 90°时，最终旋转只依赖</a:t>
            </a:r>
            <a:br/>
            <a:r>
              <a:t>两者的差，同时增加相同角度不会改变姿态。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退化发生在 RPY 参数的局部独立性上，车体坐标轴仍然互相垂直。接近奇异姿态时，角</a:t>
            </a:r>
            <a:br/>
            <a:r>
              <a:t>度反解也可能变得敏感。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Rz(ψ) Ry(π/2) Rx(φ) = Ry(π/2) Rx(φ-ψ)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(φ,θ,ψ) = (0,π/2,0) 与 (π/6,π/2,π/6)</a:t>
            </a:r>
          </a:p>
        </p:txBody>
      </p:sp>
    </p:spTree>
    <p:extLst>
      <p:ext uri="{BB962C8B-B14F-4D97-AF65-F5344CB8AC3E}">
        <p14:creationId xmlns:p14="http://schemas.microsoft.com/office/powerpoint/2010/main" val="1846821422"/>
      </p:ext>
    </p:extLst>
  </p:cSld>
</p:sld>
</file>

<file path=ppt/slides/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4EA23A-96A0-4F6E-BA04-65B47AA0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万向节锁演示观察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252047-060D-49C3-9D44-1CB683C4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先观察一般位置下的三层转环，再将 pitch 调到 90°，分别改变 yaw 与 roll，观察转轴关</a:t>
            </a:r>
            <a:br/>
            <a:r>
              <a:t>系。随后用角度差公式解释两组等价参数。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素材中的轴名与顺序按各自说明读取。本课严格奇异点为 pitch 等于正或负 90°，附近的</a:t>
            </a:r>
            <a:br/>
            <a:r>
              <a:t>预警用于观察数值敏感性。</a:t>
            </a:r>
          </a:p>
          <a:p xmlns:a="http://schemas.openxmlformats.org/drawingml/2006/main">
            <a:pPr algn="l">
              <a:spcBef>
                <a:spcPts val="4"/>
              </a:spcBef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 u="sng">
                <a:solidFill>
                  <a:srgbClr val="1468AA"/>
                </a:solidFill>
                <a:ea typeface="宋体"/>
                <a:hlinkClick xmlns:ns0="http://schemas.openxmlformats.org/officeDocument/2006/relationships" ns0:id="rIdTeachingLink1"/>
              </a:rPr>
              <a:t>打开三环交互演示</a:t>
            </a:r>
          </a:p>
          <a:p xmlns:a="http://schemas.openxmlformats.org/drawingml/2006/main">
            <a:pPr algn="l">
              <a:spcBef>
                <a:spcPts val="4"/>
              </a:spcBef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 u="sng">
                <a:solidFill>
                  <a:srgbClr val="1468AA"/>
                </a:solidFill>
                <a:ea typeface="宋体"/>
                <a:hlinkClick xmlns:ns1="http://schemas.openxmlformats.org/officeDocument/2006/relationships" ns1:id="rIdTeachingLink2"/>
              </a:rPr>
              <a:t>观看欧拉角与万向节锁视频</a:t>
            </a:r>
          </a:p>
        </p:txBody>
      </p:sp>
    </p:spTree>
    <p:extLst>
      <p:ext uri="{BB962C8B-B14F-4D97-AF65-F5344CB8AC3E}">
        <p14:creationId xmlns:p14="http://schemas.microsoft.com/office/powerpoint/2010/main" val="1133699175"/>
      </p:ext>
    </p:extLst>
  </p:cSld>
</p:sld>
</file>

<file path=ppt/slides/slide2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6055B4-18E1-443F-8E6B-500DD24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复数乘以 i 实现平面旋转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D55953-C687-4502-A8E9-86251A8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平面向量 (a, b) 可以写成复数 a+bi，且 i²=−1。乘以 i 后，坐标变成 (−b, a)，对应逆时</a:t>
            </a:r>
            <a:br/>
            <a:r>
              <a:t>针转过 90°。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正 x 单位方向因此转到正 y，乘法由此提供平面旋转的表示。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z = a + bi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iz = -b + ai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745FA-3A77-432B-A721-1A1595ABD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6140950242e3"/>
          <a:stretch xmlns:a="http://schemas.openxmlformats.org/drawingml/2006/main"/>
        </p:blipFill>
        <p:spPr>
          <a:xfrm xmlns:a="http://schemas.openxmlformats.org/drawingml/2006/main">
            <a:off x="3314800" y="4000500"/>
            <a:ext cx="5562401" cy="185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28213"/>
      </p:ext>
    </p:extLst>
  </p:cSld>
</p:sld>
</file>

<file path=ppt/slides/slide2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F361A3-517F-4D88-83FD-16F2417B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用单位复数表示任意平面旋转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A3F753-4B8B-45B6-9F66-6EED3FB5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旋转角为α时，可将向量乘以单位复数 cosα+i sinα。展开后，实部与虚部分别给出旋转</a:t>
            </a:r>
            <a:br/>
            <a:r>
              <a:t>后的两个坐标。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复数的实部与虚部共同记录旋转结果。三维旋转还需指定旋转轴，下一步将用轴角表达轴</a:t>
            </a:r>
            <a:br/>
            <a:r>
              <a:t>的方向与转角。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rα = cosα + i sinα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rα z = (a cosα - b sinα) + i(a sinα + b cosα)</a:t>
            </a:r>
          </a:p>
        </p:txBody>
      </p:sp>
    </p:spTree>
    <p:extLst>
      <p:ext uri="{BB962C8B-B14F-4D97-AF65-F5344CB8AC3E}">
        <p14:creationId xmlns:p14="http://schemas.microsoft.com/office/powerpoint/2010/main" val="2071187774"/>
      </p:ext>
    </p:extLst>
  </p:cSld>
</p:sld>
</file>

<file path=ppt/slides/slide2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D2BE19-91F0-4C86-83BD-8D460825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轴角表示三维旋转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B43A90-3DFD-4131-BF54-B1771F7E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绕固定参考点的三维旋转，可以用单位轴 u</a:t>
            </a:r>
            <a:br/>
            <a:r>
              <a:t>与转角 α 表示。小车绕正 z 左转 90°时，</a:t>
            </a:r>
            <a:br/>
            <a:r>
              <a:t>u=(0,0,1)，α=π/2。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向量沿轴的平行分量保持不变，垂直分量在</a:t>
            </a:r>
            <a:br/>
            <a:r>
              <a:t>对应平面中转动。右图的 θ 对应本课的转角</a:t>
            </a:r>
            <a:br/>
            <a:r>
              <a:t>α。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4908E-57DA-4175-87E7-8AA1B1698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b181385314259"/>
          <a:stretch xmlns:a="http://schemas.openxmlformats.org/drawingml/2006/main"/>
        </p:blipFill>
        <p:spPr>
          <a:xfrm xmlns:a="http://schemas.openxmlformats.org/drawingml/2006/main">
            <a:off x="6861206" y="2143125"/>
            <a:ext cx="4365563" cy="3581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4302"/>
      </p:ext>
    </p:extLst>
  </p:cSld>
</p:sld>
</file>

<file path=ppt/slides/slide2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A4B08B-582F-448D-9C6C-2C066C66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四元数的标量与向量部分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5BE243-29BB-4537-A158-673E28A3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四元数由标量 w 和向量部分 (x,y,z) 构成，i、j、k 为代数单位。它们满足</a:t>
            </a:r>
            <a:br/>
            <a:r>
              <a:t>i²=j²=k²=−1、ij=k、ji=−k 等规则，因此四元数乘法一般不可交换。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表示绕单位轴 u 转过 α 的单位四元数时，标量与向量部分由半角的余弦和正弦确定。</a:t>
            </a:r>
            <a:br/>
            <a:r>
              <a:t>位置由独立的平移字段保存。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q = w + xi + yj + zk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w = cos(α/2)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(x,y,z) = u sin(α/2)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w² + x² + y² + z² = 1</a:t>
            </a:r>
          </a:p>
        </p:txBody>
      </p:sp>
    </p:spTree>
    <p:extLst>
      <p:ext uri="{BB962C8B-B14F-4D97-AF65-F5344CB8AC3E}">
        <p14:creationId xmlns:p14="http://schemas.microsoft.com/office/powerpoint/2010/main" val="1920578067"/>
      </p:ext>
    </p:extLst>
  </p:cSld>
</p:sld>
</file>

<file path=ppt/slides/slide2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411E78-0FF1-453E-8EC1-728A8C50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四元数半角与夹乘旋转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51B9FF-7348-416F-99D2-78467C2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将方向向量写成标量部分为零的纯四元数 p，用 qpq⁻¹ 完成旋转。单位四元数的逆等于</a:t>
            </a:r>
            <a:br/>
            <a:r>
              <a:t>共轭，结果的向量部分给出新方向。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若绕正 z 构造 q=cosβ+k sinβ，正 x 方向实际转过 2β。因此物理转角为 α 时，四元数</a:t>
            </a:r>
            <a:br/>
            <a:r>
              <a:t>采用半角 α/2。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p = v_x i + v_y j + v_z k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p' = q p q^-1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q = cosβ + k sinβ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q i q^-1 = cos(2β)i + sin(2β)j</a:t>
            </a:r>
          </a:p>
        </p:txBody>
      </p:sp>
    </p:spTree>
    <p:extLst>
      <p:ext uri="{BB962C8B-B14F-4D97-AF65-F5344CB8AC3E}">
        <p14:creationId xmlns:p14="http://schemas.microsoft.com/office/powerpoint/2010/main" val="1211065713"/>
      </p:ext>
    </p:extLst>
  </p:cSld>
</p:sld>
</file>

<file path=ppt/slides/slide2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0E90F-39B3-4CA0-B2A0-86E30F98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正 z 九十度的四元数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1DEDBE-EC49-437E-8627-E468EA61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绕正 z 轴旋转 90 度时，半角为 45 度，正弦与余弦都等于√2/2。按 ROS 的 x、y、z、w</a:t>
            </a:r>
            <a:br/>
            <a:r>
              <a:t>顺序，四元数将正 x 单位方向转换为正 y 单位方向。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q 与−q 表示同一旋转，单位四元数的逆为共轭。组合旋转使用四元数乘法，次序应与坐</a:t>
            </a:r>
            <a:br/>
            <a:r>
              <a:t>标变换关系一致。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q = (x,y,z,w) = (0,0,√2/2,√2/2)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p = i,    q p q⁻¹ = j</a:t>
            </a:r>
          </a:p>
        </p:txBody>
      </p:sp>
    </p:spTree>
    <p:extLst>
      <p:ext uri="{BB962C8B-B14F-4D97-AF65-F5344CB8AC3E}">
        <p14:creationId xmlns:p14="http://schemas.microsoft.com/office/powerpoint/2010/main" val="1379074512"/>
      </p:ext>
    </p:extLst>
  </p:cSld>
</p:sld>
</file>

<file path=ppt/slides/slide3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A15293-A8DE-45AC-836A-748BD19D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四元数与欧拉角特殊姿态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56728E-FDE4-4FD0-B913-C27E4A40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单位四元数可连续表示经过 pitch 为 90 度附近的旋转，旋转组合过程不受欧拉角在该处</a:t>
            </a:r>
            <a:br/>
            <a:r>
              <a:t>的参数退化影响。若把结果转回 RPY 显示，欧拉角仍会出现相同奇异性。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恒等旋转为(0,0,0,1)，全零四元数无效。计算时需检查数据并保持单位长度，机械机构的</a:t>
            </a:r>
            <a:br/>
            <a:r>
              <a:t>限位仍由实际关节决定。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identity = (0,0,0,1)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(-q) p (-q)^-1 = q p q^-1</a:t>
            </a:r>
          </a:p>
        </p:txBody>
      </p:sp>
    </p:spTree>
    <p:extLst>
      <p:ext uri="{BB962C8B-B14F-4D97-AF65-F5344CB8AC3E}">
        <p14:creationId xmlns:p14="http://schemas.microsoft.com/office/powerpoint/2010/main" val="997908290"/>
      </p:ext>
    </p:extLst>
  </p:cSld>
</p:sld>
</file>

<file path=ppt/slides/slide3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FA068B-6E6E-4ACC-9095-6B7B152B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ROS 四元数的构造与消息转换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6F7F00-0937-441E-997B-69F1C57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tf2::Quaternion 用于计算旋转，geometry_msgs::Quaternion 用于 ROS 消息传递。</a:t>
            </a:r>
            <a:br/>
            <a:r>
              <a:t>setRotation 接收旋转轴和物理转角，setRPY 接收固定轴 roll、pitch、yaw，角度单位均</a:t>
            </a:r>
            <a:br/>
            <a:r>
              <a:t>为弧度。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normalize 可维护有效单位长度，toMsg 与 fromMsg 负责计算类型和消息类型之间的转</a:t>
            </a:r>
            <a:br/>
            <a:r>
              <a:t>换。构造函数的分量次序需按所用库的接口确认。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constexpr double pi = 3.141592653589793;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tf2::Quaternion q;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q.setRotation(tf2::Vector3(0,0,1), pi/2);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q.normalize();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auto rotation = tf2::toMsg(q);</a:t>
            </a:r>
          </a:p>
        </p:txBody>
      </p:sp>
    </p:spTree>
    <p:extLst>
      <p:ext uri="{BB962C8B-B14F-4D97-AF65-F5344CB8AC3E}">
        <p14:creationId xmlns:p14="http://schemas.microsoft.com/office/powerpoint/2010/main" val="1045054125"/>
      </p:ext>
    </p:extLst>
  </p:cSld>
</p:sld>
</file>

<file path=ppt/slides/slide3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02B8D9-C6C7-4D83-B82A-06BCA7A5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三维变换的组合与求逆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EC3A8A-A851-4598-B545-CC30E7AC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齐次矩阵左上角记录旋转，右上角记录平移，最后一行补充齐次坐标。列向量约定下，右</a:t>
            </a:r>
            <a:br/>
            <a:r>
              <a:t>侧变换先作用，连接帧名相接即可组合路径。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旋转矩阵求逆等于转置，逆变换的平移为−Rᵀt。雷达有滚转、俯仰或偏航安装角时，仍</a:t>
            </a:r>
            <a:br/>
            <a:r>
              <a:t>使用同一组合与求逆关系。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T_A_B = [ R_A_B   t_A_B ]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    [   0       1   ]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T_A_C = T_A_B × T_B_C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逆旋转：Rᵀ    逆平移：−Rᵀt</a:t>
            </a:r>
          </a:p>
        </p:txBody>
      </p:sp>
    </p:spTree>
    <p:extLst>
      <p:ext uri="{BB962C8B-B14F-4D97-AF65-F5344CB8AC3E}">
        <p14:creationId xmlns:p14="http://schemas.microsoft.com/office/powerpoint/2010/main" val="1186051974"/>
      </p:ext>
    </p:extLst>
  </p:cSld>
</p:sld>
</file>

<file path=ppt/slides/slide3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3421E8-16C9-4003-AA01-6224D057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恢复车体世界位姿的查询方向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737466-779A-46BA-B251-F244A782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输入为 lidar_link 在 map 中的完整位姿，所求为 base_link 在 map 中的位姿。查询</a:t>
            </a:r>
            <a:br/>
            <a:r>
              <a:t>target 为 base_link、source 为 lidar_link，取得安装变换 T_B_L。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将安装关系求逆得到 T_L_B，再与 T_W_L 组合。此时中间雷达帧 L 对应，结果就是</a:t>
            </a:r>
            <a:br/>
            <a:r>
              <a:t>T_W_B。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auto mount = buffer.lookupTransform(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"base_link", "lidar_link", stamp, timeout);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T_W_B = T_W_L * T_B_L.inverse();</a:t>
            </a:r>
          </a:p>
        </p:txBody>
      </p:sp>
    </p:spTree>
    <p:extLst>
      <p:ext uri="{BB962C8B-B14F-4D97-AF65-F5344CB8AC3E}">
        <p14:creationId xmlns:p14="http://schemas.microsoft.com/office/powerpoint/2010/main" val="1049317004"/>
      </p:ext>
    </p:extLst>
  </p:cSld>
</p:sld>
</file>

<file path=ppt/slides/slide3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959B23-4BDD-42E8-8AFF-36D6EEBF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用 tf2 计算并输出 base_pose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A3CA30-D707-4F32-A0A4-883A7BBB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Buffer 与 Listener 应随节点持续存活，查询得到安装变换后，再将输入 PoseStamped 转</a:t>
            </a:r>
            <a:br/>
            <a:r>
              <a:t>换为 tf2::Transform 并执行组合。若查询失败，本次换算应跳过，调用处按具体异常处</a:t>
            </a:r>
            <a:br/>
            <a:r>
              <a:t>理。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输出位姿沿用输入的 map 帧与时间戳。若还要发布 TF，应按系统分工设置父帧 map 和</a:t>
            </a:r>
            <a:br/>
            <a:r>
              <a:t>子帧 base_link。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tf2::fromMsg(lidar_pose.pose, T_W_L);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tf2::fromMsg(mount.transform, T_B_L);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T_W_B = T_W_L * T_B_L.inverse();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base_pose.header = lidar_pose.header;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tf2::toMsg(T_W_B, base_pose.pose);</a:t>
            </a:r>
          </a:p>
        </p:txBody>
      </p:sp>
    </p:spTree>
    <p:extLst>
      <p:ext uri="{BB962C8B-B14F-4D97-AF65-F5344CB8AC3E}">
        <p14:creationId xmlns:p14="http://schemas.microsoft.com/office/powerpoint/2010/main" val="584689077"/>
      </p:ext>
    </p:extLst>
  </p:cSld>
</p:sld>
</file>

<file path=ppt/slides/slide3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430BE0-C12D-4028-8D6D-197335C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雷达点与完整雷达位姿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8E4133-5B52-423A-9CFA-66EA5C22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PointStamped 描述目标点，换算时需要旋转和平移。PoseStamped 同时保存位置和朝</a:t>
            </a:r>
            <a:br/>
            <a:r>
              <a:t>向，Vector3Stamped 可表达按向量规律换轴的方向等数据。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雷达点换到 map 时，target 取 map、source 取 lidar_link，再应用变换。数值表达随参考</a:t>
            </a:r>
            <a:br/>
            <a:r>
              <a:t>系变化，物理目标保持原位。</a:t>
            </a:r>
          </a:p>
          <a:p xmlns:a="http://schemas.openxmlformats.org/drawingml/2006/main">
            <a:pPr algn="l">
              <a:spcBef>
                <a:spcPts val="4"/>
              </a:spcBef>
              <a:spcAft>
                <a:spcPts val="0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auto transform = buffer.lookupTransform(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    "map", "lidar_link", stamp, timeout);</a:t>
            </a:r>
            <a:b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</a:br>
            <a:r>
              <a:rPr sz="1800">
                <a:solidFill>
                  <a:srgbClr val="174E77"/>
                </a:solidFill>
                <a:latin typeface="Consolas"/>
                <a:ea typeface="宋体"/>
                <a:cs typeface="Consolas"/>
              </a:rPr>
              <a:t>tf2::doTransform(point_in_lidar, point_in_map, transform);</a:t>
            </a:r>
          </a:p>
        </p:txBody>
      </p:sp>
    </p:spTree>
    <p:extLst>
      <p:ext uri="{BB962C8B-B14F-4D97-AF65-F5344CB8AC3E}">
        <p14:creationId xmlns:p14="http://schemas.microsoft.com/office/powerpoint/2010/main" val="1707012339"/>
      </p:ext>
    </p:extLst>
  </p:cSld>
</p:sld>
</file>

<file path=ppt/slides/slide3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52F6DF-627F-4D80-ABDB-D89EFCD1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传感器时刻与变换查询时间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708FDC-86B9-4B34-8D98-9121219D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552450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传感器数据需要结合采集时刻的变换。小车</a:t>
            </a:r>
            <a:br/>
            <a:r>
              <a:t>以 1 m/s 行驶，处理延迟 0.1 s，期间移动约</a:t>
            </a:r>
            <a:br/>
            <a:r>
              <a:t>0.1 m，混用时刻会影响结果。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Time(0) 请求最新共同可用的关系，now 表</a:t>
            </a:r>
            <a:br/>
            <a:r>
              <a:t>示当前 ROS 时间。传感器数据通常按自身</a:t>
            </a:r>
            <a:br/>
            <a:r>
              <a:t>时间戳查询。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17E12-9DD4-49DA-807D-3DE707D7B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5324b475c4951"/>
          <a:stretch xmlns:a="http://schemas.openxmlformats.org/drawingml/2006/main"/>
        </p:blipFill>
        <p:spPr>
          <a:xfrm xmlns:a="http://schemas.openxmlformats.org/drawingml/2006/main">
            <a:off x="6656388" y="2143125"/>
            <a:ext cx="4775200" cy="3581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2631"/>
      </p:ext>
    </p:extLst>
  </p:cSld>
</p:sld>
</file>

<file path=ppt/slides/slide3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FE2D0D-0532-425A-B799-AA94788C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缓存、仿真时钟与数据来源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DA570C-672D-4270-8E6D-5A1C1046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1239500" cy="421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AD1"/>
            </a:solidFill>
          </a:ln>
        </p:spPr>
        <p:txBody>
          <a:bodyPr xmlns:a="http://schemas.openxmlformats.org/drawingml/2006/main" wrap="none" lIns="247650" tIns="228600" rIns="247650" bIns="19050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use_sim_time 启用后，消息与 TF 应采用一致的 ROS 时间来源。timeout 为等待稍后到</a:t>
            </a:r>
            <a:br/>
            <a:r>
              <a:t>达的数据留出时间，帧名错误、路径断开或历史超出缓存范围需检查相应数据来源。</a:t>
            </a:r>
          </a:p>
          <a:p xmlns:a="http://schemas.openxmlformats.org/drawingml/2006/main">
            <a:pPr algn="l">
              <a:spcAft>
                <a:spcPts val="12"/>
              </a:spcAft>
              <a:defRPr sz="210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t>URDF 描述安装，关节状态与定位提供运行时关系，tf2 按帧与时间组织变换。处理雷达</a:t>
            </a:r>
            <a:br/>
            <a:r>
              <a:t>数据时需明确输入是点或完整位姿、所属帧、目标帧和采集时刻。</a:t>
            </a:r>
          </a:p>
        </p:txBody>
      </p:sp>
    </p:spTree>
    <p:extLst>
      <p:ext uri="{BB962C8B-B14F-4D97-AF65-F5344CB8AC3E}">
        <p14:creationId xmlns:p14="http://schemas.microsoft.com/office/powerpoint/2010/main" val="1047579582"/>
      </p:ext>
    </p:extLst>
  </p:cSld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UzNjc1OTNmNDJjZDJhNmExNTNiMjg2MjFiYjk1OG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1269B0"/>
    </a:accent1>
    <a:accent2>
      <a:srgbClr val="3881BD"/>
    </a:accent2>
    <a:accent3>
      <a:srgbClr val="5E99C9"/>
    </a:accent3>
    <a:accent4>
      <a:srgbClr val="84B1D6"/>
    </a:accent4>
    <a:accent5>
      <a:srgbClr val="AAC9E3"/>
    </a:accent5>
    <a:accent6>
      <a:srgbClr val="D0E1EF"/>
    </a:accent6>
    <a:hlink>
      <a:srgbClr val="000000"/>
    </a:hlink>
    <a:folHlink>
      <a:srgbClr val="000000"/>
    </a:folHlink>
  </a:clrScheme>
</a:themeOverrid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3</ns0:TotalTime>
  <ns0:Words>1391</ns0:Words>
  <ns0:Application>Microsoft Office PowerPoint</ns0:Application>
  <ns0:PresentationFormat>自定义</ns0:PresentationFormat>
  <ns0:Paragraphs>81</ns0:Paragraphs>
  <ns0:Slides>5</ns0:Slides>
  <ns0:Notes>5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3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12</ns1:i4>
      </ns1:variant>
    </ns1:vector>
  </ns0:HeadingPairs>
  <ns0:TitlesOfParts>
    <ns1:vector size="17" baseType="lpstr">
      <ns1:lpstr>Arial</ns1:lpstr>
      <ns1:lpstr>Times New Roman</ns1:lpstr>
      <ns1:lpstr>Wingdings</ns1:lpstr>
      <ns1:lpstr>Office Theme</ns1:lpstr>
      <ns1:lpstr>Office Theme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URDF 与 tf2</dc:title>
  <dc:creator>Fabian Dähler</dc:creator>
  <cp:lastModifiedBy>Roi Bar</cp:lastModifiedBy>
  <cp:revision>54</cp:revision>
  <cp:lastPrinted>2021-02-23T21:11:00Z</cp:lastPrinted>
  <dcterms:created xsi:type="dcterms:W3CDTF">2021-02-23T21:11:00Z</dcterms:created>
  <dcterms:modified xsi:type="dcterms:W3CDTF">2026-10-19T03:30:57Z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ntentTypeId">
    <vt:lpwstr>0x0101003DC172450BD2A749A6C53514AD90E260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ICV">
    <vt:lpwstr>7AF839239F2742C8A81AA03E49D6D94E</vt:lpwstr>
  </property>
  <property fmtid="{D5CDD505-2E9C-101B-9397-08002B2CF9AE}" pid="7" name="KSOProductBuildVer">
    <vt:lpwstr>2052-12.1.0.18276</vt:lpwstr>
  </property>
  <property fmtid="{D5CDD505-2E9C-101B-9397-08002B2CF9AE}" pid="8" name="LinksUpToDate">
    <vt:bool>false</vt:bool>
  </property>
  <property fmtid="{D5CDD505-2E9C-101B-9397-08002B2CF9AE}" pid="9" name="MMClips">
    <vt:i4>0</vt:i4>
  </property>
  <property fmtid="{D5CDD505-2E9C-101B-9397-08002B2CF9AE}" pid="10" name="Notes">
    <vt:i4>1</vt:i4>
  </property>
  <property fmtid="{D5CDD505-2E9C-101B-9397-08002B2CF9AE}" pid="11" name="PresentationFormat">
    <vt:lpwstr>自定义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10</vt:i4>
  </property>
</Properties>
</file>